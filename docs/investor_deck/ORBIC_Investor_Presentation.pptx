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ORBIC is a purpose-built energy intelligence engine for retail energy providers (REPs) operating in ERCOT — not a generic SaaS tool retrofitted for energy. Investor takeaway: this is a single connected platform spanning the entire retail energy lifecycle, from the moment a contract is confirmed through settlement and risk monitoring, with an AI layer operating on top of live data rather than bolted on as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the pain isn't a missing feature — it's structural fragmentation. Every REP either buys 4-5 point solutions and integrates them poorly, or accepts blind spots in risk and forecasting. That fragmentation is the wedge ORBIC is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ORBIC models the retail energy business as one continuous lifecycle rather than a set of separate modules: contract confirmation flows into enrollment and MasterRoll generation, into activation, into billing and collections, and in parallel drives portfolio forecasting, hedging, settlement, and risk monitoring — with an AI layer that can answer questions across all of it. Investor takeaway: the value isn't any single module, it's that they all read and write the same underlying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ORBIC's differentiation isn't a feature list — it's that one connected data model underlies enrollment, billing, portfolio, risk, and the AI agent. Competitors are point solutions; ORBIC is the system of record those point solutions would otherwise need to integrate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this is a real, sizable codebase — 45 API routers and 109 frontend pages — not a prototype. Each REP tenant runs its own isolated database and app instance (confirmed via TenantMiddleware and the tenant provisioning script), which is a meaningful data-isolation and compliance story for enterprise energy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the enrollment engine supports six real ERCOT contract types (New, Renewal, Assignment, B&amp;E, Addition, Multi-Start) with active-contract guard rules, generates a 128-column MasterRoll file, and activation writes directly into contract_renewal — the single source of truth. The billing engine's EDI 867/810 ingestion, tax computation, and invoice generation are built and verified against real data. One open item: county/exemption capture at enrollment time is not yet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this Risk Assessment Dashboard is one of the most recently shipped features (verified via git history) — a real 4-factor weighted engine, not a mockup. Position, price, customer, and weather risk are each computed from live tables (hedge_book, mtm_results, collections, load forecasts) and rolled into one daily GREEN/YELLOW/RED score persisted to risk_scores. This turns portfolio risk from a periodic spreadsheet exercise into a live, always-current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Orbi is not a chatbot with a system prompt and hope — it's a tool-calling agent (OpenAI GPT-4o-mini) with 12 real functions (search_customers, get_open_position, get_ercot_forecast, get_past_due_accounts, and more) that call the exact same FastAPI endpoints the UI uses. Its system prompt explicitly instructs it to never invent data and always call a tool. This is what makes it an operating layer on top of ORBIC's data, not a separate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three of four forecast layers are built and live — including Layer 4, the 7-day ERCOT LFC override, which is wired directly into the production forecast path used by the Position Screen today. Layer 3 (NOAA seasonal El Niño/La Niña adjustment) is explicitly roadmap, not yet built — we are not claiming it as complete. On top of the forecast itself, four nightly self-healing checkpoints (7-Day Mirror Test, Historical Backtest, Energy Balance Sanity, Portfolio Ratio Check) continuously grade forecast quality and persist results — this automatic quality control is a meaningful differentiator most REP forecasting tools don't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this is a candid maturity snapshot, not a sales sheet — nine capabilities are built and operational today across enrollment, billing, portfolio, risk, forecasting, monitoring, and AI. Four specific items are explicitly labeled roadmap and are not claimed as complete: county/exemption capture at enrollment, NOAA seasonal forecast adjustment (Layer 3), live MTM market-price feeds, and full settlement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we are deliberately not citing market-size, revenue, or customer-count figures here — none are verified yet. What is verified is the architecture: a real, scripted, DB-per-tenant provisioning path (api/scripts/provision_tenant.py) that is the operational basis for a multi-tenant SaaS business model serving licensed ERCOT REPs.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takeaway: the vision is a natural extension of what's already built — completing the forecast and settlement stack, scaling the AI layer as new modules ship, and onboarding additional REP tenants onto the existing multi-tenant provisioning path. No revenue, market-size, or customer projections are asserted here, consistent with using only verified claims throughout this deck; those figures belong in a dedicated financial model reviewed separately with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85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ENERGY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800" b="1" i="0">
                <a:solidFill>
                  <a:srgbClr val="E8EEF7"/>
                </a:solidFill>
                <a:latin typeface="Segoe UI"/>
              </a:rPr>
              <a:t>ORBIC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8961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0" i="0">
                <a:solidFill>
                  <a:srgbClr val="22D3EE"/>
                </a:solidFill>
                <a:latin typeface="Segoe UI"/>
              </a:rPr>
              <a:t>The Energy Intelligence Engine for</a:t>
            </a:r>
          </a:p>
          <a:p>
            <a:pPr>
              <a:lnSpc>
                <a:spcPct val="110000"/>
              </a:lnSpc>
            </a:pPr>
            <a:r>
              <a:rPr sz="2600" b="0" i="0">
                <a:solidFill>
                  <a:srgbClr val="22D3EE"/>
                </a:solidFill>
                <a:latin typeface="Segoe UI"/>
              </a:rPr>
              <a:t>Retail Energy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0">
                <a:solidFill>
                  <a:srgbClr val="8CA0BC"/>
                </a:solidFill>
                <a:latin typeface="Segoe UI"/>
              </a:rPr>
              <a:t>Contract to settlement — one connected platform for ERCOT retail electric providers.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 i="0">
                <a:solidFill>
                  <a:srgbClr val="5F708A"/>
                </a:solidFill>
                <a:latin typeface="Segoe UI"/>
              </a:rPr>
              <a:t>Investor Briefing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Retail energy providers run on disconnected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 i="0">
                <a:solidFill>
                  <a:srgbClr val="8CA0BC"/>
                </a:solidFill>
                <a:latin typeface="Segoe UI"/>
              </a:rPr>
              <a:t>A typical ERCOT REP stitches together a CRM, a billing vendor, spreadsheets for hedging, and a separate BI tool — none of which share a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45720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E8EEF7"/>
                </a:solidFill>
                <a:latin typeface="Segoe UI Semibold"/>
              </a:rPr>
              <a:t>Fragmented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Enrollment, billing, and collections live in different systems with no single source of truth for a customer's contract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3317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331720"/>
            <a:ext cx="45720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E8EEF7"/>
                </a:solidFill>
                <a:latin typeface="Segoe UI Semibold"/>
              </a:rPr>
              <a:t>Manual portfolio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5351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Open position, hedge coverage, and mark-to-market are tracked in spreadsheets, refreshed periodically instead of continuously.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45720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36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E8EEF7"/>
                </a:solidFill>
                <a:latin typeface="Segoe UI Semibold"/>
              </a:rPr>
              <a:t>Forecasting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Load forecasts are built once and rarely reconciled against what ERCOT actually settles — errors compound silently.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4348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4434840"/>
            <a:ext cx="45720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636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E8EEF7"/>
                </a:solidFill>
                <a:latin typeface="Segoe UI Semibold"/>
              </a:rPr>
              <a:t>Operational data buried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05663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Staff spend hours per day searching multiple screens just to answer routine questions about a customer or an account.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02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One connected platform for the full retail energy lifecycle</a:t>
            </a:r>
          </a:p>
        </p:txBody>
      </p:sp>
      <p:pic>
        <p:nvPicPr>
          <p:cNvPr id="5" name="Picture 4" descr="lifecycl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34440"/>
            <a:ext cx="7498079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WHY ORBIC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Not a CRM. Not a billing tool. Not a chatbot bolted onto a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87171"/>
                </a:solidFill>
                <a:latin typeface="Segoe UI Semibold"/>
              </a:rPr>
              <a:t>A generic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Tracks contacts and deals — has no concept of ERCOT contract types, MasterRoll generation, or TDSP switch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9192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87171"/>
                </a:solidFill>
                <a:latin typeface="Segoe UI Semibold"/>
              </a:rPr>
              <a:t>A billing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16352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Processes charges — has no visibility into open position, hedge coverage, or forecast risk driving those charges.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03904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6849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87171"/>
                </a:solidFill>
                <a:latin typeface="Segoe UI Semibold"/>
              </a:rPr>
              <a:t>A BI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941064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Visualizes historical data — has no forecasting engine, no self-healing checkpoints, and can't take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28616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87171"/>
                </a:solidFill>
                <a:latin typeface="Segoe UI Semibold"/>
              </a:rPr>
              <a:t>A standalone AI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065776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Answers from a static knowledge base or general training data — has no live connection to a REP's actual accounts, pricing, or positions.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Segoe UI"/>
              </a:rPr>
              <a:t>ORBIC is the operational system of record — the AI agent and every module act on the same live contracts, positions, and prices.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04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A modern, tenant-isolated technology stack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778240" cy="5486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464040" y="141732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15087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2D3EE"/>
                </a:solidFill>
                <a:latin typeface="Segoe UI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1031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Frontend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65176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7432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2D3EE"/>
                </a:solidFill>
                <a:latin typeface="Segoe U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33756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API routers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388620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977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2D3EE"/>
                </a:solidFill>
                <a:latin typeface="Segoe UI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45720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Controllers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512064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5212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2D3EE"/>
                </a:solidFill>
                <a:latin typeface="Segoe UI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58064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DB 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05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CUSTOMER &amp; CONTRACT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From confirmation to collections — one auditable chain</a:t>
            </a:r>
          </a:p>
        </p:txBody>
      </p:sp>
      <p:pic>
        <p:nvPicPr>
          <p:cNvPr id="5" name="Picture 4" descr="contrac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6080760"/>
            <a:ext cx="12344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606247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E8EEF7"/>
                </a:solidFill>
                <a:latin typeface="Segoe UI"/>
              </a:rPr>
              <a:t>Enrollment Engine, MasterRoll, Activation, Billing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6080760"/>
            <a:ext cx="12344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F7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5F708A"/>
                </a:solidFill>
                <a:latin typeface="Segoe UI Semibold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8" y="606247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E8EEF7"/>
                </a:solidFill>
                <a:latin typeface="Segoe UI"/>
              </a:rPr>
              <a:t>Enrollment-time county/exemption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PORTFOLIO &amp;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A daily, weighted view of portfolio risk</a:t>
            </a:r>
          </a:p>
        </p:txBody>
      </p:sp>
      <p:pic>
        <p:nvPicPr>
          <p:cNvPr id="5" name="Picture 4" descr="ris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12064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234440"/>
            <a:ext cx="5623560" cy="1170432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234440"/>
            <a:ext cx="56235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380744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E8EEF7"/>
                </a:solidFill>
                <a:latin typeface="Segoe UI Semibold"/>
              </a:rPr>
              <a:t>Position Risk —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764792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Forecast load vs. hedged supply, evaluated across four time horizons.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965960"/>
            <a:ext cx="123444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96312"/>
            <a:ext cx="5623560" cy="1170432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496312"/>
            <a:ext cx="56235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642616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E8EEF7"/>
                </a:solidFill>
                <a:latin typeface="Segoe UI Semibold"/>
              </a:rPr>
              <a:t>Price Risk —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026664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Mark-to-market P&amp;L computed from the hedge book against market prices.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227832"/>
            <a:ext cx="123444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758184"/>
            <a:ext cx="5623560" cy="1170432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758184"/>
            <a:ext cx="56235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3904488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E8EEF7"/>
                </a:solidFill>
                <a:latin typeface="Segoe UI Semibold"/>
              </a:rPr>
              <a:t>Customer Risk —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4288536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Collections delinquency exposure across the active customer base.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4489704"/>
            <a:ext cx="123444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5020056"/>
            <a:ext cx="5623560" cy="1170432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5020056"/>
            <a:ext cx="56235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5166360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E8EEF7"/>
                </a:solidFill>
                <a:latin typeface="Segoe UI Semibold"/>
              </a:rPr>
              <a:t>Weather Risk — 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550408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8CA0BC"/>
                </a:solidFill>
                <a:latin typeface="Segoe UI"/>
              </a:rPr>
              <a:t>Near-term load forecast compared against prior-year actuals.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5751576"/>
            <a:ext cx="123444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07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AI OPERATING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Orbi: an agent grounded in live operational data</a:t>
            </a:r>
          </a:p>
        </p:txBody>
      </p:sp>
      <p:pic>
        <p:nvPicPr>
          <p:cNvPr id="5" name="Picture 4" descr="ai_ag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6080760"/>
            <a:ext cx="12344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606247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E8EEF7"/>
                </a:solidFill>
                <a:latin typeface="Segoe UI"/>
              </a:rPr>
              <a:t>12 live tool-calling functions against production FastAPI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FORECASTING &amp; MONITORING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A layered forecast engine that checks its own work</a:t>
            </a:r>
          </a:p>
        </p:txBody>
      </p:sp>
      <p:pic>
        <p:nvPicPr>
          <p:cNvPr id="5" name="Picture 4" descr="forecas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CURRENT PRODUCT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What's built, what's operational,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5389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Enrollment Engine &amp; MasterRoll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44475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965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Billing Engine (EDI ingestion → tax → invoice)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1051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8541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Contract Activation &amp; Guard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17627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5117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Portfolio / Hedging / DAM Purchases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4203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1693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Manual Mark-to-Market (MTM)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90779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8269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Risk Assessment Dashboard (4-factor)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7355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4845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Forecast Layers 1, 2 &amp; 4 (DNA, Growth, LFC Override)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363931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1421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Self-Healing Monitoring (4 nightly checkpoints)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400507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7997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Orbi AI Agent (12 live tools)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37083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 Semibold"/>
              </a:rPr>
              <a:t>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4573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Enrollment-time county / exemption capture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473659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F7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5F708A"/>
                </a:solidFill>
                <a:latin typeface="Segoe UI Semibold"/>
              </a:rPr>
              <a:t>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1149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Forecast Layer 3 — NOAA seasonal adjustment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510235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F7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5F708A"/>
                </a:solidFill>
                <a:latin typeface="Segoe UI Semibold"/>
              </a:rPr>
              <a:t>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7725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Live MTM market-price feeds (CME / ICE / Bloomberg)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546811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F7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5F708A"/>
                </a:solidFill>
                <a:latin typeface="Segoe UI Semibold"/>
              </a:rPr>
              <a:t>ROADMAP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43016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E8EEF7"/>
                </a:solidFill>
                <a:latin typeface="Segoe UI"/>
              </a:rPr>
              <a:t>Settlement reconciliation (3-way match)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5833872"/>
            <a:ext cx="1417320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F7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50" b="1">
                <a:solidFill>
                  <a:srgbClr val="5F708A"/>
                </a:solidFill>
                <a:latin typeface="Segoe UI Semibold"/>
              </a:rPr>
              <a:t>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10 /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TARGET CUSTOMERS &amp;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>
                <a:solidFill>
                  <a:srgbClr val="E8EEF7"/>
                </a:solidFill>
                <a:latin typeface="Segoe UI"/>
              </a:rPr>
              <a:t>Built for licensed retail electric providers in ERCOT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22D3EE"/>
                </a:solidFill>
                <a:latin typeface="Segoe UI Semibold"/>
              </a:rPr>
              <a:t>Who ORBIC serves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67712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Licensed Retail Electric Providers (REPs) operating in the ERCOT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19272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REPs currently running enrollment, billing, and portfolio tracking across disconnected point solutions and spreadsheets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70832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Growing REPs that need portfolio and risk visibility without building an in-house engineering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Segoe UI Semibold"/>
              </a:rPr>
              <a:t>How ORBIC is 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267712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Multi-tenant architecture: one isolated database and app instance per REP tenant, provisioned via a repeatable onboarding 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456432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Platform model: the same enrollment, billing, portfolio, and AI modules serve every tenant, with tenant-specific data fully isolated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645152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CA0BC"/>
                </a:solidFill>
                <a:latin typeface="Segoe UI"/>
              </a:rPr>
              <a:t>Deployment is verified and repeatable (provision_tenant.py), which is the operational foundation for onboarding additional REPs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11 /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LONG-TERM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800" b="1" i="0">
                <a:solidFill>
                  <a:srgbClr val="E8EEF7"/>
                </a:solidFill>
                <a:latin typeface="Segoe UI"/>
              </a:rPr>
              <a:t>The energy intelligence engine</a:t>
            </a:r>
          </a:p>
          <a:p>
            <a:pPr>
              <a:lnSpc>
                <a:spcPct val="105000"/>
              </a:lnSpc>
            </a:pPr>
            <a:r>
              <a:rPr sz="3800" b="1" i="0">
                <a:solidFill>
                  <a:srgbClr val="E8EEF7"/>
                </a:solidFill>
                <a:latin typeface="Segoe UI"/>
              </a:rPr>
              <a:t>for every retail energy provider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992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Complete the forecast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8CA0BC"/>
                </a:solidFill>
                <a:latin typeface="Segoe UI"/>
              </a:rPr>
              <a:t>Ship Layer 3 seasonal adjustment and live MTM market-price feeds to close the remaining roadmap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83464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9992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Deepen the risk &amp; settlement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0156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8CA0BC"/>
                </a:solidFill>
                <a:latin typeface="Segoe UI"/>
              </a:rPr>
              <a:t>Extend risk monitoring toward full settlement reconciliation and richer historical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280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Scale the AI operating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8CA0BC"/>
                </a:solidFill>
                <a:latin typeface="Segoe UI"/>
              </a:rPr>
              <a:t>Grow Orbi's tool coverage as new modules ship, keeping every answer grounded in live tenant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66344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280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Onboard additional REP tenants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23036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8CA0BC"/>
                </a:solidFill>
                <a:latin typeface="Segoe UI"/>
              </a:rPr>
              <a:t>Use the existing provisioning path to bring on new licensed ERCOT retail providers.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F708A"/>
                </a:solidFill>
                <a:latin typeface="Segoe UI"/>
              </a:rPr>
              <a:t>12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i="0">
                <a:solidFill>
                  <a:srgbClr val="5F708A"/>
                </a:solidFill>
                <a:latin typeface="Segoe UI Semibold"/>
              </a:rPr>
              <a:t>ORBIC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