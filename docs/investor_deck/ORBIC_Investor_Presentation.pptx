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ORBIC is not a point tool for one part of the REP business — it is being built as the operating system that runs the whole retail energy provider: sales, enrollment, billing, portfolio/risk, settlements, and collections, on one data model. This deck walks through the four operating engines, the lifecycle that connects them, and an honest, source-verified picture of what is built today versus what is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retail energy back office is usually a patchwork: a pricing sheet, a separate enrollment tool, a billing system, a portfolio spreadsheet, and a collections process run out of email and Excel. Every handoff between those systems is a place where errors creep in — and in a thin-margin, heavily regulated business, those errors show up directly as lost margin, PUC compliance exposure, customer complaints, and headcount spent on manual reconciliation. ORBIC's premise is that these six-to-seven functions should run on one connected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ORBIC is organized around four operating engines that share one underlying data model: Sales (pricing, brokers, contracts), Operations (enrollment, activation, billing, the multi-meter portal), Portfolio (forecasting, hedging, risk), and Collections (delinquency through legal escalation). Three layers run across all four engines rather than living inside any single one: the AI operating layer (Orbi), the audit and control layer, and the reporting and intelligence layer. The rest of this deck goes engine by engine, then covers those three cross-cutting layers.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customer's journey through ORBIC is one continuous pipeline: the Sales Engine produces a priced offer, which becomes a Contract Confirmation, which drives the Enrollment Engine (MasterRoll generation, ERCOT switch), which activates into the Billing Engine (EDI 867/810 ingestion, tax computation, invoicing), which feeds the Portfolio Engine (the enrolled load is now part of the hedge book and risk position), and — when an account goes delinquent — into Collections. Every stage writes to the same underlying tables (contract_renewal is the single source of truth for an active contract), so nothing has to be manually re-entered between stages, and AI, audit, and reporting all read from that same continuous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Sales Engine covers everything from daily and custom pricing to broker relationships. The core app's pricing and broker-management screens are built and in daily use. The Broker Portal is a genuine standalone Next.js + FastAPI application (not a mock) with real authentication and thirteen working PDF-generation forms covering the full paperwork set a broker needs — contracts, LOA, ACH, credit card, guarantee, credit check, account transfer, cancellation, meter add-on, and payment plan. The one gap: the Broker Portal's own pricing-quote endpoints are stubbed and not yet wired to live pricing — that's an explicit, known open item, not 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is the widest engine: contract confirmation, enrollment (with real MasterRoll generation), activation, and billing are all built and verified against the enrollment and billing rule documents and the live routers. The Multi-Meter Portal deserves its own callout — it's a genuinely separate standalone application (own database, own JWT auth, own admin panel) for customers managing many meters under one account. Continuous move-in/move-out is not a separate, partially-built layer on top of it — the portal's add/cancel/confirm-meter workflow (status codes for pending, add-requested, cancel-requested, failed, archived) *is* that continuous operation, running today, including unit-number fields for multi-meter / multi-unit properties. That's why it's folded into the same Built card rather than split out as its own roadmap item. Payments processing is the one item here flagged 'soon' directly in the product's own navigation.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Engine combines a four-layer load forecast (DNA baseline, ERCOT growth factors, seasonal NOAA adjustment, and a live 7-day ERCOT LFC override — the seasonal layer is the one piece still on the roadmap) with real trading and exposure tools: a Position Screen, a hedge book, DAM purchase entry, and manual mark-to-market. The Risk Dashboard combines four weighted factors — Position 40%, Price 25%, Customer 20%, Weather 15% — and notably the Customer factor queries the Collections module directly for at-risk exposure, which is a real code-level integration between the Portfolio and Collections engines, not just a shared theme. Four nightly monitoring checkpoints (Mirror Test, Historical Backtest, Energy Balance Sanity, Portfolio Ratio Check) run automatically. Live market-price feeds (CME, ICE, Bloomberg) are explicitly not built — mark-to-market today is a manual, API-ready process.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inputs on the left are real and already running: the net load forecast (load minus wind/solar) built on the Portfolio Engine's four-layer forecast stack, historical DAM/RTM settlement prices, and 8-zone weather data — all scraped directly from ERCOT and Open-Meteo on a scheduled basis today. The new piece is a DAM price forecasting model layered on top of that data: gradient-boosted quantile regression, chosen deliberately over a single point forecast because ERCOT prices are heavy-tailed and spike risk matters more than the average price. A dedicated ERCOT bid/offer-stack scrape is a planned input, not yet built — today's scrapers cover settlement and clearing prices, not the underlying offer curves. The model itself and its price-distribution output are roadmap items, presented honestly as such; they are the direct input to the hedge ratio engine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REPs procure close to 100% of forecasted load in the day-ahead market to meet their load-serving obligation, but forecast drift between DAM close and real-time delivery still leaves residual exposure in RTM. This framework governs that residual exposure only. The policy has one absolute rule that overrides everything else: RTM is never left short, in any hour, regardless of any spread signal — RTM risk is asymmetric and uncapped, and Winter Storm Uri (February 2021) is the reference case for why that rule is non-negotiable. In hours the model scores as low-risk — low net-load volatility, low spike probability — a reduced hedge ratio is permitted specifically to capture the historical DAM-RTM spread; this is a risk-managed exception gated by the risk score, not a standalone strategy. The Position Screen, hedge book, and DAM purchase entry that this framework would act through are already built (see the Portfolio Engine slide); the spread forecast, spike-risk score, and automated hedge ratio engine itself are roadmap. Scope note: this framework covers energy (DAM/RTM) only. ERCOT also allocates ancillary service costs to every load-serving entity by load ratio share, and those can be hedged bilaterally ahead of delivery the same way energy can — extending this framework to cover that ancillary-service exposure is planned, and the underlying ERCOT AS price data is already being captured (see the Shadow Settlements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a placeholder. The DAM price forecasting model and the hedge ratio engine described on the previous two slides do not exist in code yet, so there is no backtest to report. Once they are built, the intended validation is a backtest against historical ERCOT DAM/RTM data comparing this framework's cost outcome to a naive always-100%-DAM-hedge baseline, alongside risk-containment metrics such as RTM exposure avoided during high-risk hours. No placeholder numbers are shown here — per the same verification discipline used throughout this deck, a claim is not made until it is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Shadow Settlements is the discipline of independently estimating what ERCOT will bill (or credit) a REP for a given period, then checking that estimate against ERCOT's actual settlement statement. That statement is not energy alone — ERCOT also allocates ancillary service costs to every load-serving entity by load ratio share, so an accurate estimate has to account for both. The foundation is real: ERCOT settlement data (RTM Initial, Final, and True-Up) already flows into the platform and feeds the Position Screen today, and ERCOT DAM ancillary service clearing prices are already being scraped and stored on a scheduled basis (`scraper_ercot_market_prices.py`, `ercot_dam_capacity_prices` table). Building the REP-side settlement bill estimate from monthly usage and pricing data — including folding in that ancillary cost allocation — is in progress. The comparison-to-actual, difference-reconciliation, and two-way audit steps are roadmap items — this is deliberately presented as a workflow being built, not a finished reconciliation engine, because that is the accurate current 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Collections is presented as a lifecycle, not a single past-due screen, because the code supports that: accounts are auto-scored into delinquency tiers, DNP (Disconnect for Non-Payment) notices are generated and gated by a hard-coded PUC 10-day rule (PUCT Subst. R. 25.480) before execution is even allowed, and every proposed action — DNP execution, an ETF waiver, a payment plan, a write-off — routes through a human approval queue with a full audit timeline. Move-out and legal-escalation/demand-letter actions are modeled in the same schema but rely on a generic stage-change function rather than a dedicated workflow, so they're marked partially built. The 'Collections Agent' as an autonomous actor is infrastructure-ready — the tool registry, approval gating, and audit trail are all built — but there is no live LLM invocation wired into collections today, confirmed by a repo-wide search for LLM API usage.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Orbi is the one confirmed, live LLM integration inside the ORBIC codebase itself: a tool-calling agent with a grounding system prompt ('never invent data — always call a tool') wired to twelve real endpoints spanning customers, pricing, brokers, forecasting, and past-due accounts. A second, separate operational email assistant already exists as a working standalone pipeline outside the main application — local retrieval over historical email correspondence feeding an LLM drafting step, with a confidence gate that defers to a human instead of guessing. It has not been merged into the main application yet, and that distinction is called out explicitly on the next slide. The '15 years of REP operational experience' behind it is the real historical email corpus the assistant is grounded in, provided by the founder — not an independently verified accuracy or performance claim.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pipeline is real and working today as a standalone tool built separately from the ORBIC application, not merely designed: incoming operational email is matched via local retrieval (sentence-transformer embeddings over a persistent local vector store) against a base of real historical query/reply pairs categorized into billing, payment, pricing, commission, collections, and cancellation/closure. An LLM infers the category and drafts a reply grounded in the retrieved historical replies, and a confidence gate withholds the draft — deferring to a human — when the retrieved matches aren't similar enough or conflict with each other. The specific box layout shown here (routing to per-category agents, human-intervention branch) comes from a reference pipeline diagram used purely for its shape; no branding from that source material appears anywhere in this deck. What's true today: the retrieval-and-drafting core is built and has been tested against real historical email. What's not yet true: it has not been merged into the ORBIC application — there is no live inbox connection or in-app routing yet, which is the integration work that remains.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 is not an afterthought bolted onto ORBIC — enrollment, billing, and payment audits are dedicated screens in the core navigation, and tax computation carries its own traceable calculation path. Four automated nightly checkpoints continuously sanity-check the forecast pipeline itself, which is a form of audit applied to the platform's own outputs, not just to customer transactions. This discipline reflects lessons from real REP operations: the specific checkpoints and audit points exist because they map to failure modes seen in day-to-day retail energy operations, not generic software QA. The one gap called out honestly here is a dedicated commission-audit surface, which does not yet exist beyond the commission report itself. No specific savings or error-reduction figures are claimed for any of these audits, since none have been independently verified.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layer is designed as a simple three-step flow: a user specifies what they need and for what period, ORBIC generates it from the live data model, and it lands in a persistent report library. The intended category list spans regulatory (PUC/ERCOT/EIA), settlements, cash management, accounting, taxes, lien evaluation, and ad hoc management reports. This module is honestly labeled in progress — the product's own navigation flags Reports as an upcoming feature rather than a shipped one, so it is not presented here as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140-REP figure is the PUCT's own directory of certified retail electric providers doing business in ERCOT today — that is the immediately addressable universe, not a projection. The 63–78% concentration figure comes from published market-structure research on Texas residential retail (NRG Energy, Vistra, and Direct Energy holding that combined share) — the point is structural, not a knock on those companies: REPs at that scale build software in-house, so they are not ORBIC's buyer. Everyone below them — the large majority of the 140 — is the long tail this pricing and segment target is built for. The 13-states-plus-DC figure (RESA) establishes that ERCOT is a beachhead within a larger national footprint of residential choice, not the total addressable ceiling. The pricing block is ORBIC's own stated go-to-market pricing, not a sourced market statistic, and the resulting ARR-per-REP range is explicitly labeled illustrative unit economics — not a revenue forecast, consistent with this deck's rule against inventing market-size or revenue figures.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named, sourced competitor, not a category invented for this slide. VertexOne is the clearest direct comparable — it is the market's recognized CIS/billing leader with named, live ERCOT REP customers, but its product is billing/CIS-centric with no evidence of an integrated portfolio, risk, or AI layer. Kraken Technologies matters because it confirms a global full-stack platform is already entering Texas — its 2025 deal with Champion Energy Services is real and public — but that entry is through one large enterprise account, which is a different motion and a different price point than the 0–50k meter segment ORBIC targets. Ascend Analytics, Enverus, and ZE PowerGroup represent the ETRM/risk point-solution category that today's fragmented REP stacks lean on — they are evidence for the 'stitched together, not integrated' problem this deck opens with, not a claim that ORBIC's forecasting or hedging tooling has been benchmarked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record claim is deliberately past tense and deliberately does not name the specific REP: this platform was built and operated for fifteen years running a real ERCOT retail energy provider's full operation — sales, enrollment, billing, portfolio, and collections — which is why the engine-by-engine slides in this deck can point to real production code and real workflows rather than a demo. It is presented as proof of production maturity, not as an active reference account. The target segment (0–50k meters) is a deliberate choice, not a limitation: it is the space below where the top incumbents build in-house and below where an enterprise CIS vendor like VertexOne's larger accounts focus. Distribution is two motions: direct sales to REP leadership, and a broker channel — the second one is not aspirational, it leans on the Broker Portal that is already built and already gives brokers, who by definition touch multiple REPs, a reason to be inside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for defensibility here is architectural and operational, not a claim about proprietary data volume or model performance — neither of those has been independently verified, so neither is claimed. What is verifiable in the code: one shared data model across engines, regulatory rules enforced at the code level rather than left to process discipline, a risk engine that reads live collections exposure, audit checkpoints that run nightly against the platform's own forecasts, an AI layer grounded in real endpoints, and two genuinely separate purpose-built products (Broker Portal, Multi-Meter Portal) for two of the hardest operational sub-problems in this business.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is the single source of truth for what is built versus in progress versus roadmap, and it should be read alongside the README's verified-claims table, which cites the specific file or router behind every one of these labels. Nothing here is rounded up: Shadow Settlements and report generation are marked in progress rather than built because their core reconciliation/report-generation logic isn't complete yet, even though supporting pieces exist. The operational email assistant is split into two rows deliberately: the standalone pipeline itself (local retrieval + LLM drafting, confidence-gated) is real, working, tested code, so it is marked partially built rather than roadmap — but merging it into the ORBIC application is separate, unstarted work and is marked roadmap on its own line. The Collections Agent (an autonomous LLM actor across the delinquency-to-legal lifecycle), seasonal NOAA forecasting, live MTM feeds, and ERCOT MIS/SMT automation remain roadmap — real infrastructure exists for some of them (especially Collections), but the specific capability named here is not live.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direction from here is expansion along the same four-engine spine rather than a pivot: more decision support inside Sales and Portfolio, closing the loop on Shadow Settlements, scaling Collections without proportional headcount growth via the approval-gated agent infrastructure already built, and extending the AI operating layer from a single in-app assistant into the broader operational surface area (starting with merging in the already-built standalone email assistant). The goal is for ORBIC to be the system a retail energy provider runs its business on, not a dashboard sitting next to the systems that actually run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ero_graphic.png"/>
          <p:cNvPicPr>
            <a:picLocks noChangeAspect="1"/>
          </p:cNvPicPr>
          <p:nvPr/>
        </p:nvPicPr>
        <p:blipFill>
          <a:blip r:embed="rId2"/>
          <a:stretch>
            <a:fillRect/>
          </a:stretch>
        </p:blipFill>
        <p:spPr>
          <a:xfrm>
            <a:off x="0" y="86"/>
            <a:ext cx="12191694" cy="6857828"/>
          </a:xfrm>
          <a:prstGeom prst="rect">
            <a:avLst/>
          </a:prstGeom>
        </p:spPr>
      </p:pic>
      <p:sp>
        <p:nvSpPr>
          <p:cNvPr id="4" name="TextBox 3"/>
          <p:cNvSpPr txBox="1"/>
          <p:nvPr/>
        </p:nvSpPr>
        <p:spPr>
          <a:xfrm>
            <a:off x="640080" y="1965960"/>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INVESTOR OVERVIEW</a:t>
            </a:r>
          </a:p>
        </p:txBody>
      </p:sp>
      <p:sp>
        <p:nvSpPr>
          <p:cNvPr id="5" name="TextBox 4"/>
          <p:cNvSpPr txBox="1"/>
          <p:nvPr/>
        </p:nvSpPr>
        <p:spPr>
          <a:xfrm>
            <a:off x="640080" y="2331720"/>
            <a:ext cx="8229600" cy="1463040"/>
          </a:xfrm>
          <a:prstGeom prst="rect">
            <a:avLst/>
          </a:prstGeom>
          <a:noFill/>
        </p:spPr>
        <p:txBody>
          <a:bodyPr wrap="square" anchor="t" lIns="0" rIns="0" tIns="0" bIns="0">
            <a:spAutoFit/>
          </a:bodyPr>
          <a:lstStyle/>
          <a:p>
            <a:pPr algn="l">
              <a:lnSpc>
                <a:spcPct val="100000"/>
              </a:lnSpc>
            </a:pPr>
            <a:r>
              <a:rPr sz="7400" b="1" i="0">
                <a:solidFill>
                  <a:srgbClr val="E8EEF7"/>
                </a:solidFill>
                <a:latin typeface="Segoe UI Semibold"/>
              </a:rPr>
              <a:t>ORBIC</a:t>
            </a:r>
          </a:p>
        </p:txBody>
      </p:sp>
      <p:sp>
        <p:nvSpPr>
          <p:cNvPr id="6" name="TextBox 5"/>
          <p:cNvSpPr txBox="1"/>
          <p:nvPr/>
        </p:nvSpPr>
        <p:spPr>
          <a:xfrm>
            <a:off x="640080" y="3611880"/>
            <a:ext cx="7863840" cy="822960"/>
          </a:xfrm>
          <a:prstGeom prst="rect">
            <a:avLst/>
          </a:prstGeom>
          <a:noFill/>
        </p:spPr>
        <p:txBody>
          <a:bodyPr wrap="square" anchor="t" lIns="0" rIns="0" tIns="0" bIns="0">
            <a:spAutoFit/>
          </a:bodyPr>
          <a:lstStyle/>
          <a:p>
            <a:pPr algn="l">
              <a:lnSpc>
                <a:spcPct val="100000"/>
              </a:lnSpc>
            </a:pPr>
            <a:r>
              <a:rPr sz="2200" b="0" i="0">
                <a:solidFill>
                  <a:srgbClr val="22D3EE"/>
                </a:solidFill>
                <a:latin typeface="Segoe UI"/>
              </a:rPr>
              <a:t>The Intelligent Operating System for Retail Energy Providers</a:t>
            </a:r>
          </a:p>
        </p:txBody>
      </p:sp>
      <p:sp>
        <p:nvSpPr>
          <p:cNvPr id="7" name="TextBox 6"/>
          <p:cNvSpPr txBox="1"/>
          <p:nvPr/>
        </p:nvSpPr>
        <p:spPr>
          <a:xfrm>
            <a:off x="640080" y="4251960"/>
            <a:ext cx="7863840" cy="457200"/>
          </a:xfrm>
          <a:prstGeom prst="rect">
            <a:avLst/>
          </a:prstGeom>
          <a:noFill/>
        </p:spPr>
        <p:txBody>
          <a:bodyPr wrap="square" anchor="t" lIns="0" rIns="0" tIns="0" bIns="0">
            <a:spAutoFit/>
          </a:bodyPr>
          <a:lstStyle/>
          <a:p>
            <a:pPr algn="l">
              <a:lnSpc>
                <a:spcPct val="100000"/>
              </a:lnSpc>
            </a:pPr>
            <a:r>
              <a:rPr sz="1400" b="0" i="0">
                <a:solidFill>
                  <a:srgbClr val="8CA0BC"/>
                </a:solidFill>
                <a:latin typeface="Segoe UI"/>
              </a:rPr>
              <a:t>Sales  ·  Operations  ·  Portfolio  ·  Collections — one connected platform</a:t>
            </a:r>
          </a:p>
        </p:txBody>
      </p:sp>
      <p:sp>
        <p:nvSpPr>
          <p:cNvPr id="8" name="TextBox 7"/>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01 / 22</a:t>
            </a:r>
          </a:p>
        </p:txBody>
      </p:sp>
      <p:sp>
        <p:nvSpPr>
          <p:cNvPr id="9" name="TextBox 8"/>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THE PROBLEM</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Retail energy providers run on disconnected systems</a:t>
            </a:r>
          </a:p>
        </p:txBody>
      </p:sp>
      <p:sp>
        <p:nvSpPr>
          <p:cNvPr id="5" name="Rounded Rectangle 4"/>
          <p:cNvSpPr/>
          <p:nvPr/>
        </p:nvSpPr>
        <p:spPr>
          <a:xfrm>
            <a:off x="527151"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0303"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Sales / Pricing</a:t>
            </a:r>
          </a:p>
        </p:txBody>
      </p:sp>
      <p:sp>
        <p:nvSpPr>
          <p:cNvPr id="7" name="Rounded Rectangle 6"/>
          <p:cNvSpPr/>
          <p:nvPr/>
        </p:nvSpPr>
        <p:spPr>
          <a:xfrm>
            <a:off x="2136495"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09647"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Enrollment</a:t>
            </a:r>
          </a:p>
        </p:txBody>
      </p:sp>
      <p:sp>
        <p:nvSpPr>
          <p:cNvPr id="9" name="Rounded Rectangle 8"/>
          <p:cNvSpPr/>
          <p:nvPr/>
        </p:nvSpPr>
        <p:spPr>
          <a:xfrm>
            <a:off x="3745839"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18991"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Billing</a:t>
            </a:r>
          </a:p>
        </p:txBody>
      </p:sp>
      <p:sp>
        <p:nvSpPr>
          <p:cNvPr id="11" name="Rounded Rectangle 10"/>
          <p:cNvSpPr/>
          <p:nvPr/>
        </p:nvSpPr>
        <p:spPr>
          <a:xfrm>
            <a:off x="5355183"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28335"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Portfolio / Hedging</a:t>
            </a:r>
          </a:p>
        </p:txBody>
      </p:sp>
      <p:sp>
        <p:nvSpPr>
          <p:cNvPr id="13" name="Rounded Rectangle 12"/>
          <p:cNvSpPr/>
          <p:nvPr/>
        </p:nvSpPr>
        <p:spPr>
          <a:xfrm>
            <a:off x="6964527"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37679"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Settlements</a:t>
            </a:r>
          </a:p>
        </p:txBody>
      </p:sp>
      <p:sp>
        <p:nvSpPr>
          <p:cNvPr id="15" name="Rounded Rectangle 14"/>
          <p:cNvSpPr/>
          <p:nvPr/>
        </p:nvSpPr>
        <p:spPr>
          <a:xfrm>
            <a:off x="8573871"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47023"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Collections</a:t>
            </a:r>
          </a:p>
        </p:txBody>
      </p:sp>
      <p:sp>
        <p:nvSpPr>
          <p:cNvPr id="17" name="Rounded Rectangle 16"/>
          <p:cNvSpPr/>
          <p:nvPr/>
        </p:nvSpPr>
        <p:spPr>
          <a:xfrm>
            <a:off x="10183215" y="1783080"/>
            <a:ext cx="1481328" cy="1005840"/>
          </a:xfrm>
          <a:prstGeom prst="roundRect">
            <a:avLst>
              <a:gd name="adj" fmla="val 10000"/>
            </a:avLst>
          </a:prstGeom>
          <a:solidFill>
            <a:srgbClr val="0F1828"/>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56367" y="1783080"/>
            <a:ext cx="1335024" cy="1005840"/>
          </a:xfrm>
          <a:prstGeom prst="rect">
            <a:avLst/>
          </a:prstGeom>
          <a:noFill/>
        </p:spPr>
        <p:txBody>
          <a:bodyPr wrap="square" anchor="ctr" lIns="0" rIns="0" tIns="0" bIns="0">
            <a:spAutoFit/>
          </a:bodyPr>
          <a:lstStyle/>
          <a:p>
            <a:pPr algn="ctr">
              <a:lnSpc>
                <a:spcPct val="110000"/>
              </a:lnSpc>
            </a:pPr>
            <a:r>
              <a:rPr sz="1250" b="1" i="0">
                <a:solidFill>
                  <a:srgbClr val="E8EEF7"/>
                </a:solidFill>
                <a:latin typeface="Segoe UI"/>
              </a:rPr>
              <a:t>Reporting</a:t>
            </a:r>
          </a:p>
        </p:txBody>
      </p:sp>
      <p:sp>
        <p:nvSpPr>
          <p:cNvPr id="19" name="TextBox 18"/>
          <p:cNvSpPr txBox="1"/>
          <p:nvPr/>
        </p:nvSpPr>
        <p:spPr>
          <a:xfrm>
            <a:off x="527151" y="2926080"/>
            <a:ext cx="11137392" cy="365760"/>
          </a:xfrm>
          <a:prstGeom prst="rect">
            <a:avLst/>
          </a:prstGeom>
          <a:noFill/>
        </p:spPr>
        <p:txBody>
          <a:bodyPr wrap="square" anchor="t" lIns="0" rIns="0" tIns="0" bIns="0">
            <a:spAutoFit/>
          </a:bodyPr>
          <a:lstStyle/>
          <a:p>
            <a:pPr algn="ctr">
              <a:lnSpc>
                <a:spcPct val="100000"/>
              </a:lnSpc>
            </a:pPr>
            <a:r>
              <a:rPr sz="1300" b="0" i="1">
                <a:solidFill>
                  <a:srgbClr val="F87171"/>
                </a:solidFill>
                <a:latin typeface="Segoe UI"/>
              </a:rPr>
              <a:t>Different tools. Different spreadsheets. No shared source of truth.</a:t>
            </a:r>
          </a:p>
        </p:txBody>
      </p:sp>
      <p:sp>
        <p:nvSpPr>
          <p:cNvPr id="20" name="TextBox 19"/>
          <p:cNvSpPr txBox="1"/>
          <p:nvPr/>
        </p:nvSpPr>
        <p:spPr>
          <a:xfrm>
            <a:off x="640080" y="3566160"/>
            <a:ext cx="10881360"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a:rPr>
              <a:t>When these functions don't talk to each other, every handoff is a place errors get in:</a:t>
            </a:r>
          </a:p>
        </p:txBody>
      </p:sp>
      <p:sp>
        <p:nvSpPr>
          <p:cNvPr id="21" name="Rounded Rectangle 20"/>
          <p:cNvSpPr/>
          <p:nvPr/>
        </p:nvSpPr>
        <p:spPr>
          <a:xfrm>
            <a:off x="822960" y="415137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8992" y="4069080"/>
            <a:ext cx="10076688" cy="420624"/>
          </a:xfrm>
          <a:prstGeom prst="rect">
            <a:avLst/>
          </a:prstGeom>
          <a:noFill/>
        </p:spPr>
        <p:txBody>
          <a:bodyPr wrap="square" anchor="t" lIns="0" rIns="0" tIns="0" bIns="0">
            <a:spAutoFit/>
          </a:bodyPr>
          <a:lstStyle/>
          <a:p>
            <a:pPr algn="l">
              <a:lnSpc>
                <a:spcPct val="108000"/>
              </a:lnSpc>
            </a:pPr>
            <a:r>
              <a:rPr sz="1450" b="0" i="0">
                <a:solidFill>
                  <a:srgbClr val="E8EEF7"/>
                </a:solidFill>
                <a:latin typeface="Segoe UI"/>
              </a:rPr>
              <a:t>Margin loss — pricing and hedging decisions made without a live view of enrolled load or settlement risk</a:t>
            </a:r>
          </a:p>
        </p:txBody>
      </p:sp>
      <p:sp>
        <p:nvSpPr>
          <p:cNvPr id="23" name="Rounded Rectangle 22"/>
          <p:cNvSpPr/>
          <p:nvPr/>
        </p:nvSpPr>
        <p:spPr>
          <a:xfrm>
            <a:off x="822960" y="457200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489704"/>
            <a:ext cx="10076688" cy="420624"/>
          </a:xfrm>
          <a:prstGeom prst="rect">
            <a:avLst/>
          </a:prstGeom>
          <a:noFill/>
        </p:spPr>
        <p:txBody>
          <a:bodyPr wrap="square" anchor="t" lIns="0" rIns="0" tIns="0" bIns="0">
            <a:spAutoFit/>
          </a:bodyPr>
          <a:lstStyle/>
          <a:p>
            <a:pPr algn="l">
              <a:lnSpc>
                <a:spcPct val="108000"/>
              </a:lnSpc>
            </a:pPr>
            <a:r>
              <a:rPr sz="1450" b="0" i="0">
                <a:solidFill>
                  <a:srgbClr val="E8EEF7"/>
                </a:solidFill>
                <a:latin typeface="Segoe UI"/>
              </a:rPr>
              <a:t>Compliance exposure — PUC deadlines, tax rules, and audit trails tracked manually across disconnected files</a:t>
            </a:r>
          </a:p>
        </p:txBody>
      </p:sp>
      <p:sp>
        <p:nvSpPr>
          <p:cNvPr id="25" name="Rounded Rectangle 24"/>
          <p:cNvSpPr/>
          <p:nvPr/>
        </p:nvSpPr>
        <p:spPr>
          <a:xfrm>
            <a:off x="822960" y="4992624"/>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 y="4910328"/>
            <a:ext cx="10076688" cy="420624"/>
          </a:xfrm>
          <a:prstGeom prst="rect">
            <a:avLst/>
          </a:prstGeom>
          <a:noFill/>
        </p:spPr>
        <p:txBody>
          <a:bodyPr wrap="square" anchor="t" lIns="0" rIns="0" tIns="0" bIns="0">
            <a:spAutoFit/>
          </a:bodyPr>
          <a:lstStyle/>
          <a:p>
            <a:pPr algn="l">
              <a:lnSpc>
                <a:spcPct val="108000"/>
              </a:lnSpc>
            </a:pPr>
            <a:r>
              <a:rPr sz="1450" b="0" i="0">
                <a:solidFill>
                  <a:srgbClr val="E8EEF7"/>
                </a:solidFill>
                <a:latin typeface="Segoe UI"/>
              </a:rPr>
              <a:t>Customer-facing errors — enrollment delays, billing mistakes, and meter mix-ups that reach the customer</a:t>
            </a:r>
          </a:p>
        </p:txBody>
      </p:sp>
      <p:sp>
        <p:nvSpPr>
          <p:cNvPr id="27" name="Rounded Rectangle 26"/>
          <p:cNvSpPr/>
          <p:nvPr/>
        </p:nvSpPr>
        <p:spPr>
          <a:xfrm>
            <a:off x="822960" y="5413248"/>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8992" y="5330952"/>
            <a:ext cx="10076688" cy="420624"/>
          </a:xfrm>
          <a:prstGeom prst="rect">
            <a:avLst/>
          </a:prstGeom>
          <a:noFill/>
        </p:spPr>
        <p:txBody>
          <a:bodyPr wrap="square" anchor="t" lIns="0" rIns="0" tIns="0" bIns="0">
            <a:spAutoFit/>
          </a:bodyPr>
          <a:lstStyle/>
          <a:p>
            <a:pPr algn="l">
              <a:lnSpc>
                <a:spcPct val="108000"/>
              </a:lnSpc>
            </a:pPr>
            <a:r>
              <a:rPr sz="1450" b="0" i="0">
                <a:solidFill>
                  <a:srgbClr val="E8EEF7"/>
                </a:solidFill>
                <a:latin typeface="Segoe UI"/>
              </a:rPr>
              <a:t>Operational cost — headcount spent reconciling spreadsheets instead of running the business</a:t>
            </a:r>
          </a:p>
        </p:txBody>
      </p:sp>
      <p:sp>
        <p:nvSpPr>
          <p:cNvPr id="29" name="TextBox 28"/>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02 / 22</a:t>
            </a:r>
          </a:p>
        </p:txBody>
      </p:sp>
      <p:sp>
        <p:nvSpPr>
          <p:cNvPr id="30" name="TextBox 29"/>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THE ORBIC PLATFORM</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One platform. Four connected operating engines.</a:t>
            </a:r>
          </a:p>
        </p:txBody>
      </p:sp>
      <p:pic>
        <p:nvPicPr>
          <p:cNvPr id="5" name="Picture 4" descr="four_engine_architecture.png"/>
          <p:cNvPicPr>
            <a:picLocks noChangeAspect="1"/>
          </p:cNvPicPr>
          <p:nvPr/>
        </p:nvPicPr>
        <p:blipFill>
          <a:blip r:embed="rId2"/>
          <a:stretch>
            <a:fillRect/>
          </a:stretch>
        </p:blipFill>
        <p:spPr>
          <a:xfrm>
            <a:off x="2116836" y="1417320"/>
            <a:ext cx="7973568" cy="4983480"/>
          </a:xfrm>
          <a:prstGeom prst="rect">
            <a:avLst/>
          </a:prstGeom>
        </p:spPr>
      </p:pic>
      <p:sp>
        <p:nvSpPr>
          <p:cNvPr id="6" name="TextBox 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03 / 22</a:t>
            </a:r>
          </a:p>
        </p:txBody>
      </p:sp>
      <p:sp>
        <p:nvSpPr>
          <p:cNvPr id="7" name="TextBox 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END-TO-END LIFECYCLE</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The complete REP lifecycle, on one data model</a:t>
            </a:r>
          </a:p>
        </p:txBody>
      </p:sp>
      <p:pic>
        <p:nvPicPr>
          <p:cNvPr id="5" name="Picture 4" descr="lifecycle_pipeline.png"/>
          <p:cNvPicPr>
            <a:picLocks noChangeAspect="1"/>
          </p:cNvPicPr>
          <p:nvPr/>
        </p:nvPicPr>
        <p:blipFill>
          <a:blip r:embed="rId2"/>
          <a:stretch>
            <a:fillRect/>
          </a:stretch>
        </p:blipFill>
        <p:spPr>
          <a:xfrm>
            <a:off x="637098" y="1417320"/>
            <a:ext cx="10933043" cy="5029200"/>
          </a:xfrm>
          <a:prstGeom prst="rect">
            <a:avLst/>
          </a:prstGeom>
        </p:spPr>
      </p:pic>
      <p:sp>
        <p:nvSpPr>
          <p:cNvPr id="6" name="TextBox 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04 / 22</a:t>
            </a:r>
          </a:p>
        </p:txBody>
      </p:sp>
      <p:sp>
        <p:nvSpPr>
          <p:cNvPr id="7" name="TextBox 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ENGINE 01 — SALES</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Sales Engine</a:t>
            </a:r>
          </a:p>
        </p:txBody>
      </p:sp>
      <p:sp>
        <p:nvSpPr>
          <p:cNvPr id="5" name="Rounded Rectangle 4"/>
          <p:cNvSpPr/>
          <p:nvPr/>
        </p:nvSpPr>
        <p:spPr>
          <a:xfrm>
            <a:off x="64008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Daily &amp; Custom Pricing</a:t>
            </a:r>
          </a:p>
        </p:txBody>
      </p:sp>
      <p:sp>
        <p:nvSpPr>
          <p:cNvPr id="8" name="TextBox 7"/>
          <p:cNvSpPr txBox="1"/>
          <p:nvPr/>
        </p:nvSpPr>
        <p:spPr>
          <a:xfrm>
            <a:off x="84124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Daily pricing generation and custom quote workflows in the core application, covering the pricing screens sales teams use every day.</a:t>
            </a:r>
          </a:p>
        </p:txBody>
      </p:sp>
      <p:sp>
        <p:nvSpPr>
          <p:cNvPr id="9" name="Rounded Rectangle 8"/>
          <p:cNvSpPr/>
          <p:nvPr/>
        </p:nvSpPr>
        <p:spPr>
          <a:xfrm>
            <a:off x="240487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487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1" name="Rounded Rectangle 10"/>
          <p:cNvSpPr/>
          <p:nvPr/>
        </p:nvSpPr>
        <p:spPr>
          <a:xfrm>
            <a:off x="434340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Broker Management</a:t>
            </a:r>
          </a:p>
        </p:txBody>
      </p:sp>
      <p:sp>
        <p:nvSpPr>
          <p:cNvPr id="14" name="TextBox 13"/>
          <p:cNvSpPr txBox="1"/>
          <p:nvPr/>
        </p:nvSpPr>
        <p:spPr>
          <a:xfrm>
            <a:off x="454456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Broker directory, ESI ID lookup, and commission tracking inside the core app.</a:t>
            </a:r>
          </a:p>
        </p:txBody>
      </p:sp>
      <p:sp>
        <p:nvSpPr>
          <p:cNvPr id="15" name="Rounded Rectangle 14"/>
          <p:cNvSpPr/>
          <p:nvPr/>
        </p:nvSpPr>
        <p:spPr>
          <a:xfrm>
            <a:off x="610819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819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7" name="Rounded Rectangle 16"/>
          <p:cNvSpPr/>
          <p:nvPr/>
        </p:nvSpPr>
        <p:spPr>
          <a:xfrm>
            <a:off x="804672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Broker Portal &amp; Application</a:t>
            </a:r>
          </a:p>
        </p:txBody>
      </p:sp>
      <p:sp>
        <p:nvSpPr>
          <p:cNvPr id="20" name="TextBox 19"/>
          <p:cNvSpPr txBox="1"/>
          <p:nvPr/>
        </p:nvSpPr>
        <p:spPr>
          <a:xfrm>
            <a:off x="824788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Standalone Orbic Broker Portal — real login, live renewal/expiration dashboard, and 13 PDF-generation forms (contracts, LOA, ACH, credit card, guarantee, credit check, account transfer, cancellation, meter add-on, payment plan).</a:t>
            </a:r>
          </a:p>
        </p:txBody>
      </p:sp>
      <p:sp>
        <p:nvSpPr>
          <p:cNvPr id="21" name="Rounded Rectangle 20"/>
          <p:cNvSpPr/>
          <p:nvPr/>
        </p:nvSpPr>
        <p:spPr>
          <a:xfrm>
            <a:off x="981151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1151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3" name="Rounded Rectangle 22"/>
          <p:cNvSpPr/>
          <p:nvPr/>
        </p:nvSpPr>
        <p:spPr>
          <a:xfrm>
            <a:off x="64008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Contract Management</a:t>
            </a:r>
          </a:p>
        </p:txBody>
      </p:sp>
      <p:sp>
        <p:nvSpPr>
          <p:cNvPr id="26" name="TextBox 25"/>
          <p:cNvSpPr txBox="1"/>
          <p:nvPr/>
        </p:nvSpPr>
        <p:spPr>
          <a:xfrm>
            <a:off x="84124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Contract tracking with expiring-contract alerts at 30- and 90-day horizons pulled from live renewal data.</a:t>
            </a:r>
          </a:p>
        </p:txBody>
      </p:sp>
      <p:sp>
        <p:nvSpPr>
          <p:cNvPr id="27" name="Rounded Rectangle 26"/>
          <p:cNvSpPr/>
          <p:nvPr/>
        </p:nvSpPr>
        <p:spPr>
          <a:xfrm>
            <a:off x="240487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0487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9" name="Rounded Rectangle 28"/>
          <p:cNvSpPr/>
          <p:nvPr/>
        </p:nvSpPr>
        <p:spPr>
          <a:xfrm>
            <a:off x="434340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Commission Management</a:t>
            </a:r>
          </a:p>
        </p:txBody>
      </p:sp>
      <p:sp>
        <p:nvSpPr>
          <p:cNvPr id="32" name="TextBox 31"/>
          <p:cNvSpPr txBox="1"/>
          <p:nvPr/>
        </p:nvSpPr>
        <p:spPr>
          <a:xfrm>
            <a:off x="454456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Commission calculation and downloadable commission reports for brokers.</a:t>
            </a:r>
          </a:p>
        </p:txBody>
      </p:sp>
      <p:sp>
        <p:nvSpPr>
          <p:cNvPr id="33" name="Rounded Rectangle 32"/>
          <p:cNvSpPr/>
          <p:nvPr/>
        </p:nvSpPr>
        <p:spPr>
          <a:xfrm>
            <a:off x="610819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35" name="Rounded Rectangle 34"/>
          <p:cNvSpPr/>
          <p:nvPr/>
        </p:nvSpPr>
        <p:spPr>
          <a:xfrm>
            <a:off x="804672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672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788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Broker-Facing Quote Pricing Engine</a:t>
            </a:r>
          </a:p>
        </p:txBody>
      </p:sp>
      <p:sp>
        <p:nvSpPr>
          <p:cNvPr id="38" name="TextBox 37"/>
          <p:cNvSpPr txBox="1"/>
          <p:nvPr/>
        </p:nvSpPr>
        <p:spPr>
          <a:xfrm>
            <a:off x="824788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Automated daily-quote and custom-price generation directly inside the Broker Portal — the portal's own pricing endpoints are stubs today.</a:t>
            </a:r>
          </a:p>
        </p:txBody>
      </p:sp>
      <p:sp>
        <p:nvSpPr>
          <p:cNvPr id="39" name="Rounded Rectangle 38"/>
          <p:cNvSpPr/>
          <p:nvPr/>
        </p:nvSpPr>
        <p:spPr>
          <a:xfrm>
            <a:off x="9811512" y="5641848"/>
            <a:ext cx="155448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11512" y="5641848"/>
            <a:ext cx="155448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41" name="TextBox 40"/>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05 / 22</a:t>
            </a:r>
          </a:p>
        </p:txBody>
      </p:sp>
      <p:sp>
        <p:nvSpPr>
          <p:cNvPr id="42" name="TextBox 41"/>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ENGINE 02 — OPERATIONS</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Operations Engine</a:t>
            </a:r>
          </a:p>
        </p:txBody>
      </p:sp>
      <p:sp>
        <p:nvSpPr>
          <p:cNvPr id="5" name="Rounded Rectangle 4"/>
          <p:cNvSpPr/>
          <p:nvPr/>
        </p:nvSpPr>
        <p:spPr>
          <a:xfrm>
            <a:off x="64008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Contract Confirmation</a:t>
            </a:r>
          </a:p>
        </p:txBody>
      </p:sp>
      <p:sp>
        <p:nvSpPr>
          <p:cNvPr id="8" name="TextBox 7"/>
          <p:cNvSpPr txBox="1"/>
          <p:nvPr/>
        </p:nvSpPr>
        <p:spPr>
          <a:xfrm>
            <a:off x="84124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Confirmation workflow that hands a signed offer into the enrollment pipeline.</a:t>
            </a:r>
          </a:p>
        </p:txBody>
      </p:sp>
      <p:sp>
        <p:nvSpPr>
          <p:cNvPr id="9" name="Rounded Rectangle 8"/>
          <p:cNvSpPr/>
          <p:nvPr/>
        </p:nvSpPr>
        <p:spPr>
          <a:xfrm>
            <a:off x="240487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487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1" name="Rounded Rectangle 10"/>
          <p:cNvSpPr/>
          <p:nvPr/>
        </p:nvSpPr>
        <p:spPr>
          <a:xfrm>
            <a:off x="434340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Enrollment &amp; MasterRoll</a:t>
            </a:r>
          </a:p>
        </p:txBody>
      </p:sp>
      <p:sp>
        <p:nvSpPr>
          <p:cNvPr id="14" name="TextBox 13"/>
          <p:cNvSpPr txBox="1"/>
          <p:nvPr/>
        </p:nvSpPr>
        <p:spPr>
          <a:xfrm>
            <a:off x="454456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Enrollment Engine supports six contract types and generates the 128-column MasterRoll XLSX used for ERCOT switch submission, with active-contract guard rules.</a:t>
            </a:r>
          </a:p>
        </p:txBody>
      </p:sp>
      <p:sp>
        <p:nvSpPr>
          <p:cNvPr id="15" name="Rounded Rectangle 14"/>
          <p:cNvSpPr/>
          <p:nvPr/>
        </p:nvSpPr>
        <p:spPr>
          <a:xfrm>
            <a:off x="610819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819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7" name="Rounded Rectangle 16"/>
          <p:cNvSpPr/>
          <p:nvPr/>
        </p:nvSpPr>
        <p:spPr>
          <a:xfrm>
            <a:off x="804672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Activation</a:t>
            </a:r>
          </a:p>
        </p:txBody>
      </p:sp>
      <p:sp>
        <p:nvSpPr>
          <p:cNvPr id="20" name="TextBox 19"/>
          <p:cNvSpPr txBox="1"/>
          <p:nvPr/>
        </p:nvSpPr>
        <p:spPr>
          <a:xfrm>
            <a:off x="824788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Activation writes contract_renewal as the single source of truth for an active contract.</a:t>
            </a:r>
          </a:p>
        </p:txBody>
      </p:sp>
      <p:sp>
        <p:nvSpPr>
          <p:cNvPr id="21" name="Rounded Rectangle 20"/>
          <p:cNvSpPr/>
          <p:nvPr/>
        </p:nvSpPr>
        <p:spPr>
          <a:xfrm>
            <a:off x="981151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1151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3" name="Rounded Rectangle 22"/>
          <p:cNvSpPr/>
          <p:nvPr/>
        </p:nvSpPr>
        <p:spPr>
          <a:xfrm>
            <a:off x="64008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Billing Engine</a:t>
            </a:r>
          </a:p>
        </p:txBody>
      </p:sp>
      <p:sp>
        <p:nvSpPr>
          <p:cNvPr id="26" name="TextBox 25"/>
          <p:cNvSpPr txBox="1"/>
          <p:nvPr/>
        </p:nvSpPr>
        <p:spPr>
          <a:xfrm>
            <a:off x="84124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Ingests EDI 867/810, matches contracts, computes tax, and produces invoices.</a:t>
            </a:r>
          </a:p>
        </p:txBody>
      </p:sp>
      <p:sp>
        <p:nvSpPr>
          <p:cNvPr id="27" name="Rounded Rectangle 26"/>
          <p:cNvSpPr/>
          <p:nvPr/>
        </p:nvSpPr>
        <p:spPr>
          <a:xfrm>
            <a:off x="240487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0487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9" name="Rounded Rectangle 28"/>
          <p:cNvSpPr/>
          <p:nvPr/>
        </p:nvSpPr>
        <p:spPr>
          <a:xfrm>
            <a:off x="434340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Multi-Meter Portal — Continuous Move-In / Move-Out</a:t>
            </a:r>
          </a:p>
        </p:txBody>
      </p:sp>
      <p:sp>
        <p:nvSpPr>
          <p:cNvPr id="32" name="TextBox 31"/>
          <p:cNvSpPr txBox="1"/>
          <p:nvPr/>
        </p:nvSpPr>
        <p:spPr>
          <a:xfrm>
            <a:off x="454456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Standalone app, own DB and JWT auth. Customers add, cancel, and confirm meters on an ongoing self-service basis — that workflow is the continuous move-in/move-out operation, with unit-number-aware records for multi-meter properties.</a:t>
            </a:r>
          </a:p>
        </p:txBody>
      </p:sp>
      <p:sp>
        <p:nvSpPr>
          <p:cNvPr id="33" name="Rounded Rectangle 32"/>
          <p:cNvSpPr/>
          <p:nvPr/>
        </p:nvSpPr>
        <p:spPr>
          <a:xfrm>
            <a:off x="610819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35" name="Rounded Rectangle 34"/>
          <p:cNvSpPr/>
          <p:nvPr/>
        </p:nvSpPr>
        <p:spPr>
          <a:xfrm>
            <a:off x="804672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672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788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Payments</a:t>
            </a:r>
          </a:p>
        </p:txBody>
      </p:sp>
      <p:sp>
        <p:nvSpPr>
          <p:cNvPr id="38" name="TextBox 37"/>
          <p:cNvSpPr txBox="1"/>
          <p:nvPr/>
        </p:nvSpPr>
        <p:spPr>
          <a:xfrm>
            <a:off x="824788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Payment processing surfaces exist in the app but are marked upcoming in the product navigation itself.</a:t>
            </a:r>
          </a:p>
        </p:txBody>
      </p:sp>
      <p:sp>
        <p:nvSpPr>
          <p:cNvPr id="39" name="Rounded Rectangle 38"/>
          <p:cNvSpPr/>
          <p:nvPr/>
        </p:nvSpPr>
        <p:spPr>
          <a:xfrm>
            <a:off x="9811512" y="5641848"/>
            <a:ext cx="155448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11512" y="5641848"/>
            <a:ext cx="155448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41" name="TextBox 40"/>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06 / 22</a:t>
            </a:r>
          </a:p>
        </p:txBody>
      </p:sp>
      <p:sp>
        <p:nvSpPr>
          <p:cNvPr id="42" name="TextBox 41"/>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ENGINE 03 — PORTFOLIO</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Portfolio and Risk Engine</a:t>
            </a:r>
          </a:p>
        </p:txBody>
      </p:sp>
      <p:pic>
        <p:nvPicPr>
          <p:cNvPr id="5" name="Picture 4" descr="portfolio_risk_diagram.png"/>
          <p:cNvPicPr>
            <a:picLocks noChangeAspect="1"/>
          </p:cNvPicPr>
          <p:nvPr/>
        </p:nvPicPr>
        <p:blipFill>
          <a:blip r:embed="rId2"/>
          <a:stretch>
            <a:fillRect/>
          </a:stretch>
        </p:blipFill>
        <p:spPr>
          <a:xfrm>
            <a:off x="1912620" y="1417320"/>
            <a:ext cx="8382000" cy="5029200"/>
          </a:xfrm>
          <a:prstGeom prst="rect">
            <a:avLst/>
          </a:prstGeom>
        </p:spPr>
      </p:pic>
      <p:sp>
        <p:nvSpPr>
          <p:cNvPr id="6" name="TextBox 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07 / 22</a:t>
            </a:r>
          </a:p>
        </p:txBody>
      </p:sp>
      <p:sp>
        <p:nvSpPr>
          <p:cNvPr id="7" name="TextBox 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PORTFOLIO ENGINE — MARKET FORECASTING</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ERCOT Price Forecasting</a:t>
            </a:r>
          </a:p>
        </p:txBody>
      </p:sp>
      <p:sp>
        <p:nvSpPr>
          <p:cNvPr id="5" name="TextBox 4"/>
          <p:cNvSpPr txBox="1"/>
          <p:nvPr/>
        </p:nvSpPr>
        <p:spPr>
          <a:xfrm>
            <a:off x="640080" y="1371600"/>
            <a:ext cx="10881360" cy="45720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A DAM price-distribution model layered on the existing load and weather forecasting engines.</a:t>
            </a:r>
          </a:p>
        </p:txBody>
      </p:sp>
      <p:pic>
        <p:nvPicPr>
          <p:cNvPr id="6" name="Picture 5" descr="price_forecasting_diagram.png"/>
          <p:cNvPicPr>
            <a:picLocks noChangeAspect="1"/>
          </p:cNvPicPr>
          <p:nvPr/>
        </p:nvPicPr>
        <p:blipFill>
          <a:blip r:embed="rId2"/>
          <a:stretch>
            <a:fillRect/>
          </a:stretch>
        </p:blipFill>
        <p:spPr>
          <a:xfrm>
            <a:off x="1954953" y="1874519"/>
            <a:ext cx="8297333" cy="4480560"/>
          </a:xfrm>
          <a:prstGeom prst="rect">
            <a:avLst/>
          </a:prstGeom>
        </p:spPr>
      </p:pic>
      <p:sp>
        <p:nvSpPr>
          <p:cNvPr id="7" name="TextBox 6"/>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08 / 22</a:t>
            </a:r>
          </a:p>
        </p:txBody>
      </p:sp>
      <p:sp>
        <p:nvSpPr>
          <p:cNvPr id="8" name="TextBox 7"/>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PORTFOLIO ENGINE — HEDGING POLICY</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DAM/RTM Hedging Framework</a:t>
            </a:r>
          </a:p>
        </p:txBody>
      </p:sp>
      <p:sp>
        <p:nvSpPr>
          <p:cNvPr id="5" name="TextBox 4"/>
          <p:cNvSpPr txBox="1"/>
          <p:nvPr/>
        </p:nvSpPr>
        <p:spPr>
          <a:xfrm>
            <a:off x="640080" y="1371600"/>
            <a:ext cx="10881360" cy="45720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A risk-gated framework for the residual real-time exposure that remains after day-ahead procurement.</a:t>
            </a:r>
          </a:p>
        </p:txBody>
      </p:sp>
      <p:pic>
        <p:nvPicPr>
          <p:cNvPr id="6" name="Picture 5" descr="hedging_framework_diagram.png"/>
          <p:cNvPicPr>
            <a:picLocks noChangeAspect="1"/>
          </p:cNvPicPr>
          <p:nvPr/>
        </p:nvPicPr>
        <p:blipFill>
          <a:blip r:embed="rId2"/>
          <a:stretch>
            <a:fillRect/>
          </a:stretch>
        </p:blipFill>
        <p:spPr>
          <a:xfrm>
            <a:off x="1432229" y="1874519"/>
            <a:ext cx="9342782" cy="4297680"/>
          </a:xfrm>
          <a:prstGeom prst="rect">
            <a:avLst/>
          </a:prstGeom>
        </p:spPr>
      </p:pic>
      <p:sp>
        <p:nvSpPr>
          <p:cNvPr id="7" name="TextBox 6"/>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09 / 22</a:t>
            </a:r>
          </a:p>
        </p:txBody>
      </p:sp>
      <p:sp>
        <p:nvSpPr>
          <p:cNvPr id="8" name="TextBox 7"/>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PORTFOLIO ENGINE — MARKET FORECASTING</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Backtested Performance</a:t>
            </a:r>
          </a:p>
        </p:txBody>
      </p:sp>
      <p:sp>
        <p:nvSpPr>
          <p:cNvPr id="5" name="TextBox 4"/>
          <p:cNvSpPr txBox="1"/>
          <p:nvPr/>
        </p:nvSpPr>
        <p:spPr>
          <a:xfrm>
            <a:off x="640080" y="1371600"/>
            <a:ext cx="10881360" cy="45720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Quantitative validation is planned once the price forecasting model and hedging framework are built — no results exist yet.</a:t>
            </a:r>
          </a:p>
        </p:txBody>
      </p:sp>
      <p:sp>
        <p:nvSpPr>
          <p:cNvPr id="6" name="Rounded Rectangle 5"/>
          <p:cNvSpPr/>
          <p:nvPr/>
        </p:nvSpPr>
        <p:spPr>
          <a:xfrm>
            <a:off x="1737360" y="2286000"/>
            <a:ext cx="8732520" cy="3246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03120" y="2651760"/>
            <a:ext cx="1737360" cy="329184"/>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2651760"/>
            <a:ext cx="1737360" cy="329184"/>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9" name="TextBox 8"/>
          <p:cNvSpPr txBox="1"/>
          <p:nvPr/>
        </p:nvSpPr>
        <p:spPr>
          <a:xfrm>
            <a:off x="2103120" y="3154680"/>
            <a:ext cx="8001000" cy="45720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a:rPr>
              <a:t>No backtest has been run — this slide is a placeholder for real results, not an estimate.</a:t>
            </a:r>
          </a:p>
        </p:txBody>
      </p:sp>
      <p:sp>
        <p:nvSpPr>
          <p:cNvPr id="10" name="Rounded Rectangle 9"/>
          <p:cNvSpPr/>
          <p:nvPr/>
        </p:nvSpPr>
        <p:spPr>
          <a:xfrm>
            <a:off x="2103120" y="378561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59152" y="3703320"/>
            <a:ext cx="7744968" cy="530352"/>
          </a:xfrm>
          <a:prstGeom prst="rect">
            <a:avLst/>
          </a:prstGeom>
          <a:noFill/>
        </p:spPr>
        <p:txBody>
          <a:bodyPr wrap="square" anchor="t" lIns="0" rIns="0" tIns="0" bIns="0">
            <a:spAutoFit/>
          </a:bodyPr>
          <a:lstStyle/>
          <a:p>
            <a:pPr algn="l">
              <a:lnSpc>
                <a:spcPct val="108000"/>
              </a:lnSpc>
            </a:pPr>
            <a:r>
              <a:rPr sz="1350" b="0" i="0">
                <a:solidFill>
                  <a:srgbClr val="E8EEF7"/>
                </a:solidFill>
                <a:latin typeface="Segoe UI"/>
              </a:rPr>
              <a:t>Cost savings versus a naive always-100%-DAM-hedge baseline, once the price forecasting model exists</a:t>
            </a:r>
          </a:p>
        </p:txBody>
      </p:sp>
      <p:sp>
        <p:nvSpPr>
          <p:cNvPr id="12" name="Rounded Rectangle 11"/>
          <p:cNvSpPr/>
          <p:nvPr/>
        </p:nvSpPr>
        <p:spPr>
          <a:xfrm>
            <a:off x="2103120" y="4315968"/>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59152" y="4233672"/>
            <a:ext cx="7744968" cy="530352"/>
          </a:xfrm>
          <a:prstGeom prst="rect">
            <a:avLst/>
          </a:prstGeom>
          <a:noFill/>
        </p:spPr>
        <p:txBody>
          <a:bodyPr wrap="square" anchor="t" lIns="0" rIns="0" tIns="0" bIns="0">
            <a:spAutoFit/>
          </a:bodyPr>
          <a:lstStyle/>
          <a:p>
            <a:pPr algn="l">
              <a:lnSpc>
                <a:spcPct val="108000"/>
              </a:lnSpc>
            </a:pPr>
            <a:r>
              <a:rPr sz="1350" b="0" i="0">
                <a:solidFill>
                  <a:srgbClr val="E8EEF7"/>
                </a:solidFill>
                <a:latin typeface="Segoe UI"/>
              </a:rPr>
              <a:t>Risk-containment metrics — RTM exposure avoided in high-risk hours, spike-hour outcomes</a:t>
            </a:r>
          </a:p>
        </p:txBody>
      </p:sp>
      <p:sp>
        <p:nvSpPr>
          <p:cNvPr id="14" name="Rounded Rectangle 13"/>
          <p:cNvSpPr/>
          <p:nvPr/>
        </p:nvSpPr>
        <p:spPr>
          <a:xfrm>
            <a:off x="2103120" y="484632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59152" y="4764024"/>
            <a:ext cx="7744968" cy="530352"/>
          </a:xfrm>
          <a:prstGeom prst="rect">
            <a:avLst/>
          </a:prstGeom>
          <a:noFill/>
        </p:spPr>
        <p:txBody>
          <a:bodyPr wrap="square" anchor="t" lIns="0" rIns="0" tIns="0" bIns="0">
            <a:spAutoFit/>
          </a:bodyPr>
          <a:lstStyle/>
          <a:p>
            <a:pPr algn="l">
              <a:lnSpc>
                <a:spcPct val="108000"/>
              </a:lnSpc>
            </a:pPr>
            <a:r>
              <a:rPr sz="1350" b="0" i="0">
                <a:solidFill>
                  <a:srgbClr val="E8EEF7"/>
                </a:solidFill>
                <a:latin typeface="Segoe UI"/>
              </a:rPr>
              <a:t>No cost-savings figures, accuracy percentages, or risk metrics are presented anywhere in this deck until they come from an actual backtest against historical ERCOT data</a:t>
            </a:r>
          </a:p>
        </p:txBody>
      </p:sp>
      <p:sp>
        <p:nvSpPr>
          <p:cNvPr id="16" name="TextBox 1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10 / 22</a:t>
            </a:r>
          </a:p>
        </p:txBody>
      </p:sp>
      <p:sp>
        <p:nvSpPr>
          <p:cNvPr id="17" name="TextBox 1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PORTFOLIO ENGINE — SETTLEMENTS</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Shadow Settlements</a:t>
            </a:r>
          </a:p>
        </p:txBody>
      </p:sp>
      <p:sp>
        <p:nvSpPr>
          <p:cNvPr id="5" name="TextBox 4"/>
          <p:cNvSpPr txBox="1"/>
          <p:nvPr/>
        </p:nvSpPr>
        <p:spPr>
          <a:xfrm>
            <a:off x="640080" y="1371600"/>
            <a:ext cx="10881360" cy="45720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A four-step reconciliation workflow that checks ORBIC's own billing math — energy and ancillary service costs — against ERCOT's settlement of record.</a:t>
            </a:r>
          </a:p>
        </p:txBody>
      </p:sp>
      <p:pic>
        <p:nvPicPr>
          <p:cNvPr id="6" name="Picture 5" descr="shadow_settlements_diagram.png"/>
          <p:cNvPicPr>
            <a:picLocks noChangeAspect="1"/>
          </p:cNvPicPr>
          <p:nvPr/>
        </p:nvPicPr>
        <p:blipFill>
          <a:blip r:embed="rId2"/>
          <a:stretch>
            <a:fillRect/>
          </a:stretch>
        </p:blipFill>
        <p:spPr>
          <a:xfrm>
            <a:off x="457200" y="1997391"/>
            <a:ext cx="11292840" cy="4234815"/>
          </a:xfrm>
          <a:prstGeom prst="rect">
            <a:avLst/>
          </a:prstGeom>
        </p:spPr>
      </p:pic>
      <p:sp>
        <p:nvSpPr>
          <p:cNvPr id="7" name="TextBox 6"/>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11 / 22</a:t>
            </a:r>
          </a:p>
        </p:txBody>
      </p:sp>
      <p:sp>
        <p:nvSpPr>
          <p:cNvPr id="8" name="TextBox 7"/>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ENGINE 04 — COLLECTIONS</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Collections Engine</a:t>
            </a:r>
          </a:p>
        </p:txBody>
      </p:sp>
      <p:sp>
        <p:nvSpPr>
          <p:cNvPr id="5" name="TextBox 4"/>
          <p:cNvSpPr txBox="1"/>
          <p:nvPr/>
        </p:nvSpPr>
        <p:spPr>
          <a:xfrm>
            <a:off x="640080" y="1371600"/>
            <a:ext cx="10881360" cy="45720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A full delinquency lifecycle with PUC-compliant notice timing and a human-approval gate on every irreversible action.</a:t>
            </a:r>
          </a:p>
        </p:txBody>
      </p:sp>
      <p:pic>
        <p:nvPicPr>
          <p:cNvPr id="6" name="Picture 5" descr="collections_lifecycle_diagram.png"/>
          <p:cNvPicPr>
            <a:picLocks noChangeAspect="1"/>
          </p:cNvPicPr>
          <p:nvPr/>
        </p:nvPicPr>
        <p:blipFill>
          <a:blip r:embed="rId2"/>
          <a:stretch>
            <a:fillRect/>
          </a:stretch>
        </p:blipFill>
        <p:spPr>
          <a:xfrm>
            <a:off x="502920" y="1874519"/>
            <a:ext cx="11201400" cy="4480560"/>
          </a:xfrm>
          <a:prstGeom prst="rect">
            <a:avLst/>
          </a:prstGeom>
        </p:spPr>
      </p:pic>
      <p:sp>
        <p:nvSpPr>
          <p:cNvPr id="7" name="TextBox 6"/>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12 / 22</a:t>
            </a:r>
          </a:p>
        </p:txBody>
      </p:sp>
      <p:sp>
        <p:nvSpPr>
          <p:cNvPr id="8" name="TextBox 7"/>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CROSS-CUTTING LAYER — AI</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AI Operating Layer</a:t>
            </a:r>
          </a:p>
        </p:txBody>
      </p:sp>
      <p:pic>
        <p:nvPicPr>
          <p:cNvPr id="5" name="Picture 4" descr="ai_agent_diagram.png"/>
          <p:cNvPicPr>
            <a:picLocks noChangeAspect="1"/>
          </p:cNvPicPr>
          <p:nvPr/>
        </p:nvPicPr>
        <p:blipFill>
          <a:blip r:embed="rId2"/>
          <a:stretch>
            <a:fillRect/>
          </a:stretch>
        </p:blipFill>
        <p:spPr>
          <a:xfrm>
            <a:off x="365760" y="1841721"/>
            <a:ext cx="7315200" cy="4134678"/>
          </a:xfrm>
          <a:prstGeom prst="rect">
            <a:avLst/>
          </a:prstGeom>
        </p:spPr>
      </p:pic>
      <p:sp>
        <p:nvSpPr>
          <p:cNvPr id="6" name="TextBox 5"/>
          <p:cNvSpPr txBox="1"/>
          <p:nvPr/>
        </p:nvSpPr>
        <p:spPr>
          <a:xfrm>
            <a:off x="7863840" y="1600200"/>
            <a:ext cx="3749039" cy="365760"/>
          </a:xfrm>
          <a:prstGeom prst="rect">
            <a:avLst/>
          </a:prstGeom>
          <a:noFill/>
        </p:spPr>
        <p:txBody>
          <a:bodyPr wrap="square" anchor="t" lIns="0" rIns="0" tIns="0" bIns="0">
            <a:spAutoFit/>
          </a:bodyPr>
          <a:lstStyle/>
          <a:p>
            <a:pPr algn="l">
              <a:lnSpc>
                <a:spcPct val="100000"/>
              </a:lnSpc>
            </a:pPr>
            <a:r>
              <a:rPr sz="1400" b="1" i="0">
                <a:solidFill>
                  <a:srgbClr val="22D3EE"/>
                </a:solidFill>
                <a:latin typeface="Segoe UI Semibold"/>
              </a:rPr>
              <a:t>In the app today</a:t>
            </a:r>
          </a:p>
        </p:txBody>
      </p:sp>
      <p:sp>
        <p:nvSpPr>
          <p:cNvPr id="7" name="Rounded Rectangle 6"/>
          <p:cNvSpPr/>
          <p:nvPr/>
        </p:nvSpPr>
        <p:spPr>
          <a:xfrm>
            <a:off x="7863840" y="209397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19872" y="2011680"/>
            <a:ext cx="3493007" cy="502920"/>
          </a:xfrm>
          <a:prstGeom prst="rect">
            <a:avLst/>
          </a:prstGeom>
          <a:noFill/>
        </p:spPr>
        <p:txBody>
          <a:bodyPr wrap="square" anchor="t" lIns="0" rIns="0" tIns="0" bIns="0">
            <a:spAutoFit/>
          </a:bodyPr>
          <a:lstStyle/>
          <a:p>
            <a:pPr algn="l">
              <a:lnSpc>
                <a:spcPct val="108000"/>
              </a:lnSpc>
            </a:pPr>
            <a:r>
              <a:rPr sz="1250" b="0" i="0">
                <a:solidFill>
                  <a:srgbClr val="E8EEF7"/>
                </a:solidFill>
                <a:latin typeface="Segoe UI"/>
              </a:rPr>
              <a:t>Orbi is a live, tool-calling agent wired to 12 real ORBIC endpoints</a:t>
            </a:r>
          </a:p>
        </p:txBody>
      </p:sp>
      <p:sp>
        <p:nvSpPr>
          <p:cNvPr id="9" name="Rounded Rectangle 8"/>
          <p:cNvSpPr/>
          <p:nvPr/>
        </p:nvSpPr>
        <p:spPr>
          <a:xfrm>
            <a:off x="7863840" y="25968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2" y="2514600"/>
            <a:ext cx="3493007" cy="502920"/>
          </a:xfrm>
          <a:prstGeom prst="rect">
            <a:avLst/>
          </a:prstGeom>
          <a:noFill/>
        </p:spPr>
        <p:txBody>
          <a:bodyPr wrap="square" anchor="t" lIns="0" rIns="0" tIns="0" bIns="0">
            <a:spAutoFit/>
          </a:bodyPr>
          <a:lstStyle/>
          <a:p>
            <a:pPr algn="l">
              <a:lnSpc>
                <a:spcPct val="108000"/>
              </a:lnSpc>
            </a:pPr>
            <a:r>
              <a:rPr sz="1250" b="0" i="0">
                <a:solidFill>
                  <a:srgbClr val="E8EEF7"/>
                </a:solidFill>
                <a:latin typeface="Segoe UI"/>
              </a:rPr>
              <a:t>Answers are grounded in production data — no invented figures</a:t>
            </a:r>
          </a:p>
        </p:txBody>
      </p:sp>
      <p:sp>
        <p:nvSpPr>
          <p:cNvPr id="11" name="Rounded Rectangle 10"/>
          <p:cNvSpPr/>
          <p:nvPr/>
        </p:nvSpPr>
        <p:spPr>
          <a:xfrm>
            <a:off x="7863840" y="309981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9872" y="3017520"/>
            <a:ext cx="3493007" cy="502920"/>
          </a:xfrm>
          <a:prstGeom prst="rect">
            <a:avLst/>
          </a:prstGeom>
          <a:noFill/>
        </p:spPr>
        <p:txBody>
          <a:bodyPr wrap="square" anchor="t" lIns="0" rIns="0" tIns="0" bIns="0">
            <a:spAutoFit/>
          </a:bodyPr>
          <a:lstStyle/>
          <a:p>
            <a:pPr algn="l">
              <a:lnSpc>
                <a:spcPct val="108000"/>
              </a:lnSpc>
            </a:pPr>
            <a:r>
              <a:rPr sz="1250" b="0" i="0">
                <a:solidFill>
                  <a:srgbClr val="E8EEF7"/>
                </a:solidFill>
                <a:latin typeface="Segoe UI"/>
              </a:rPr>
              <a:t>Runs inside the core app end users already use</a:t>
            </a:r>
          </a:p>
        </p:txBody>
      </p:sp>
      <p:sp>
        <p:nvSpPr>
          <p:cNvPr id="13" name="TextBox 12"/>
          <p:cNvSpPr txBox="1"/>
          <p:nvPr/>
        </p:nvSpPr>
        <p:spPr>
          <a:xfrm>
            <a:off x="7863840" y="3840480"/>
            <a:ext cx="3749039" cy="365760"/>
          </a:xfrm>
          <a:prstGeom prst="rect">
            <a:avLst/>
          </a:prstGeom>
          <a:noFill/>
        </p:spPr>
        <p:txBody>
          <a:bodyPr wrap="square" anchor="t" lIns="0" rIns="0" tIns="0" bIns="0">
            <a:spAutoFit/>
          </a:bodyPr>
          <a:lstStyle/>
          <a:p>
            <a:pPr algn="l">
              <a:lnSpc>
                <a:spcPct val="100000"/>
              </a:lnSpc>
            </a:pPr>
            <a:r>
              <a:rPr sz="1400" b="1" i="0">
                <a:solidFill>
                  <a:srgbClr val="F5A623"/>
                </a:solidFill>
                <a:latin typeface="Segoe UI Semibold"/>
              </a:rPr>
              <a:t>Built, not yet merged</a:t>
            </a:r>
          </a:p>
        </p:txBody>
      </p:sp>
      <p:sp>
        <p:nvSpPr>
          <p:cNvPr id="14" name="Rounded Rectangle 13"/>
          <p:cNvSpPr/>
          <p:nvPr/>
        </p:nvSpPr>
        <p:spPr>
          <a:xfrm>
            <a:off x="7863840" y="4334256"/>
            <a:ext cx="82296" cy="82296"/>
          </a:xfrm>
          <a:prstGeom prst="roundRect">
            <a:avLst>
              <a:gd name="adj" fmla="val 5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4251960"/>
            <a:ext cx="3493007" cy="548640"/>
          </a:xfrm>
          <a:prstGeom prst="rect">
            <a:avLst/>
          </a:prstGeom>
          <a:noFill/>
        </p:spPr>
        <p:txBody>
          <a:bodyPr wrap="square" anchor="t" lIns="0" rIns="0" tIns="0" bIns="0">
            <a:spAutoFit/>
          </a:bodyPr>
          <a:lstStyle/>
          <a:p>
            <a:pPr algn="l">
              <a:lnSpc>
                <a:spcPct val="108000"/>
              </a:lnSpc>
            </a:pPr>
            <a:r>
              <a:rPr sz="1250" b="0" i="0">
                <a:solidFill>
                  <a:srgbClr val="E8EEF7"/>
                </a:solidFill>
                <a:latin typeface="Segoe UI"/>
              </a:rPr>
              <a:t>A separate operational email assistant (next slide) — built and tested standalone; integrating it into the main app is what remains</a:t>
            </a:r>
          </a:p>
        </p:txBody>
      </p:sp>
      <p:sp>
        <p:nvSpPr>
          <p:cNvPr id="16" name="Rounded Rectangle 15"/>
          <p:cNvSpPr/>
          <p:nvPr/>
        </p:nvSpPr>
        <p:spPr>
          <a:xfrm>
            <a:off x="7863840" y="4882896"/>
            <a:ext cx="82296" cy="82296"/>
          </a:xfrm>
          <a:prstGeom prst="roundRect">
            <a:avLst>
              <a:gd name="adj" fmla="val 5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4800600"/>
            <a:ext cx="3493007" cy="548640"/>
          </a:xfrm>
          <a:prstGeom prst="rect">
            <a:avLst/>
          </a:prstGeom>
          <a:noFill/>
        </p:spPr>
        <p:txBody>
          <a:bodyPr wrap="square" anchor="t" lIns="0" rIns="0" tIns="0" bIns="0">
            <a:spAutoFit/>
          </a:bodyPr>
          <a:lstStyle/>
          <a:p>
            <a:pPr algn="l">
              <a:lnSpc>
                <a:spcPct val="108000"/>
              </a:lnSpc>
            </a:pPr>
            <a:r>
              <a:rPr sz="1250" b="0" i="0">
                <a:solidFill>
                  <a:srgbClr val="E8EEF7"/>
                </a:solidFill>
                <a:latin typeface="Segoe UI"/>
              </a:rPr>
              <a:t>Grounded in 15 years of founder-provided REP email correspondence — a real dataset, not an independently verified performance claim</a:t>
            </a:r>
          </a:p>
        </p:txBody>
      </p:sp>
      <p:sp>
        <p:nvSpPr>
          <p:cNvPr id="18" name="TextBox 17"/>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13 / 22</a:t>
            </a:r>
          </a:p>
        </p:txBody>
      </p:sp>
      <p:sp>
        <p:nvSpPr>
          <p:cNvPr id="19" name="TextBox 18"/>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BUILT, NOT YET INTEGRATED — AI LAYER</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Operational Email Assistant</a:t>
            </a:r>
          </a:p>
        </p:txBody>
      </p:sp>
      <p:sp>
        <p:nvSpPr>
          <p:cNvPr id="5" name="TextBox 4"/>
          <p:cNvSpPr txBox="1"/>
          <p:nvPr/>
        </p:nvSpPr>
        <p:spPr>
          <a:xfrm>
            <a:off x="640080" y="1325880"/>
            <a:ext cx="10881360" cy="365760"/>
          </a:xfrm>
          <a:prstGeom prst="rect">
            <a:avLst/>
          </a:prstGeom>
          <a:noFill/>
        </p:spPr>
        <p:txBody>
          <a:bodyPr wrap="square" anchor="t" lIns="0" rIns="0" tIns="0" bIns="0">
            <a:spAutoFit/>
          </a:bodyPr>
          <a:lstStyle/>
          <a:p>
            <a:pPr algn="l">
              <a:lnSpc>
                <a:spcPct val="100000"/>
              </a:lnSpc>
            </a:pPr>
            <a:r>
              <a:rPr sz="1450" b="0" i="0">
                <a:solidFill>
                  <a:srgbClr val="8CA0BC"/>
                </a:solidFill>
                <a:latin typeface="Segoe UI"/>
              </a:rPr>
              <a:t>A working retrieval + drafting pipeline for inbound operational email — built and tested outside the main app, not yet merged into it.</a:t>
            </a:r>
          </a:p>
        </p:txBody>
      </p:sp>
      <p:pic>
        <p:nvPicPr>
          <p:cNvPr id="6" name="Picture 5" descr="email_pipeline_diagram.png"/>
          <p:cNvPicPr>
            <a:picLocks noChangeAspect="1"/>
          </p:cNvPicPr>
          <p:nvPr/>
        </p:nvPicPr>
        <p:blipFill>
          <a:blip r:embed="rId2"/>
          <a:stretch>
            <a:fillRect/>
          </a:stretch>
        </p:blipFill>
        <p:spPr>
          <a:xfrm>
            <a:off x="1714500" y="1783080"/>
            <a:ext cx="8778240" cy="4572000"/>
          </a:xfrm>
          <a:prstGeom prst="rect">
            <a:avLst/>
          </a:prstGeom>
        </p:spPr>
      </p:pic>
      <p:sp>
        <p:nvSpPr>
          <p:cNvPr id="7" name="TextBox 6"/>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14 / 22</a:t>
            </a:r>
          </a:p>
        </p:txBody>
      </p:sp>
      <p:sp>
        <p:nvSpPr>
          <p:cNvPr id="8" name="TextBox 7"/>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CROSS-CUTTING LAYER — AUDIT</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Audit and Control Layer</a:t>
            </a:r>
          </a:p>
        </p:txBody>
      </p:sp>
      <p:sp>
        <p:nvSpPr>
          <p:cNvPr id="5" name="Rounded Rectangle 4"/>
          <p:cNvSpPr/>
          <p:nvPr/>
        </p:nvSpPr>
        <p:spPr>
          <a:xfrm>
            <a:off x="64008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Enrollment Audit</a:t>
            </a:r>
          </a:p>
        </p:txBody>
      </p:sp>
      <p:sp>
        <p:nvSpPr>
          <p:cNvPr id="8" name="TextBox 7"/>
          <p:cNvSpPr txBox="1"/>
          <p:nvPr/>
        </p:nvSpPr>
        <p:spPr>
          <a:xfrm>
            <a:off x="84124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Dedicated enrollment-audit screen and workflow in the core application.</a:t>
            </a:r>
          </a:p>
        </p:txBody>
      </p:sp>
      <p:sp>
        <p:nvSpPr>
          <p:cNvPr id="9" name="Rounded Rectangle 8"/>
          <p:cNvSpPr/>
          <p:nvPr/>
        </p:nvSpPr>
        <p:spPr>
          <a:xfrm>
            <a:off x="240487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487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1" name="Rounded Rectangle 10"/>
          <p:cNvSpPr/>
          <p:nvPr/>
        </p:nvSpPr>
        <p:spPr>
          <a:xfrm>
            <a:off x="434340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Billing Audit</a:t>
            </a:r>
          </a:p>
        </p:txBody>
      </p:sp>
      <p:sp>
        <p:nvSpPr>
          <p:cNvPr id="14" name="TextBox 13"/>
          <p:cNvSpPr txBox="1"/>
          <p:nvPr/>
        </p:nvSpPr>
        <p:spPr>
          <a:xfrm>
            <a:off x="454456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Dedicated billing-audit screen checking invoices against contract and usage data.</a:t>
            </a:r>
          </a:p>
        </p:txBody>
      </p:sp>
      <p:sp>
        <p:nvSpPr>
          <p:cNvPr id="15" name="Rounded Rectangle 14"/>
          <p:cNvSpPr/>
          <p:nvPr/>
        </p:nvSpPr>
        <p:spPr>
          <a:xfrm>
            <a:off x="610819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819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7" name="Rounded Rectangle 16"/>
          <p:cNvSpPr/>
          <p:nvPr/>
        </p:nvSpPr>
        <p:spPr>
          <a:xfrm>
            <a:off x="8046720" y="1691640"/>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691640"/>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1837944"/>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Payment Audit</a:t>
            </a:r>
          </a:p>
        </p:txBody>
      </p:sp>
      <p:sp>
        <p:nvSpPr>
          <p:cNvPr id="20" name="TextBox 19"/>
          <p:cNvSpPr txBox="1"/>
          <p:nvPr/>
        </p:nvSpPr>
        <p:spPr>
          <a:xfrm>
            <a:off x="8247888" y="2221992"/>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Dedicated payment-audit screen reconciling payments against billed amounts.</a:t>
            </a:r>
          </a:p>
        </p:txBody>
      </p:sp>
      <p:sp>
        <p:nvSpPr>
          <p:cNvPr id="21" name="Rounded Rectangle 20"/>
          <p:cNvSpPr/>
          <p:nvPr/>
        </p:nvSpPr>
        <p:spPr>
          <a:xfrm>
            <a:off x="9811512" y="3337560"/>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11512" y="3337560"/>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3" name="Rounded Rectangle 22"/>
          <p:cNvSpPr/>
          <p:nvPr/>
        </p:nvSpPr>
        <p:spPr>
          <a:xfrm>
            <a:off x="64008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Tax &amp; Process Audit Trail</a:t>
            </a:r>
          </a:p>
        </p:txBody>
      </p:sp>
      <p:sp>
        <p:nvSpPr>
          <p:cNvPr id="26" name="TextBox 25"/>
          <p:cNvSpPr txBox="1"/>
          <p:nvPr/>
        </p:nvSpPr>
        <p:spPr>
          <a:xfrm>
            <a:off x="84124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Tax computation (SPD3 / MGRT / PUCA) runs inside the Billing Engine with a traceable calculation path per invoice.</a:t>
            </a:r>
          </a:p>
        </p:txBody>
      </p:sp>
      <p:sp>
        <p:nvSpPr>
          <p:cNvPr id="27" name="Rounded Rectangle 26"/>
          <p:cNvSpPr/>
          <p:nvPr/>
        </p:nvSpPr>
        <p:spPr>
          <a:xfrm>
            <a:off x="240487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0487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9" name="Rounded Rectangle 28"/>
          <p:cNvSpPr/>
          <p:nvPr/>
        </p:nvSpPr>
        <p:spPr>
          <a:xfrm>
            <a:off x="434340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Commission Audit</a:t>
            </a:r>
          </a:p>
        </p:txBody>
      </p:sp>
      <p:sp>
        <p:nvSpPr>
          <p:cNvPr id="32" name="TextBox 31"/>
          <p:cNvSpPr txBox="1"/>
          <p:nvPr/>
        </p:nvSpPr>
        <p:spPr>
          <a:xfrm>
            <a:off x="454456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A dedicated commission-audit view beyond the existing commission report is not yet a separate product surface.</a:t>
            </a:r>
          </a:p>
        </p:txBody>
      </p:sp>
      <p:sp>
        <p:nvSpPr>
          <p:cNvPr id="33" name="Rounded Rectangle 32"/>
          <p:cNvSpPr/>
          <p:nvPr/>
        </p:nvSpPr>
        <p:spPr>
          <a:xfrm>
            <a:off x="6108192" y="5641848"/>
            <a:ext cx="155448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5641848"/>
            <a:ext cx="155448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35" name="Rounded Rectangle 34"/>
          <p:cNvSpPr/>
          <p:nvPr/>
        </p:nvSpPr>
        <p:spPr>
          <a:xfrm>
            <a:off x="8046720" y="3995928"/>
            <a:ext cx="3502152" cy="210312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6720" y="3995928"/>
            <a:ext cx="54864" cy="2103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7888" y="4142232"/>
            <a:ext cx="3099816"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Forecast Monitoring Checkpoints</a:t>
            </a:r>
          </a:p>
        </p:txBody>
      </p:sp>
      <p:sp>
        <p:nvSpPr>
          <p:cNvPr id="38" name="TextBox 37"/>
          <p:cNvSpPr txBox="1"/>
          <p:nvPr/>
        </p:nvSpPr>
        <p:spPr>
          <a:xfrm>
            <a:off x="8247888" y="4526280"/>
            <a:ext cx="3099816" cy="118872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Four automated nightly checkpoints (Mirror Test, Historical Backtest, Energy Balance Sanity, Portfolio Ratio Check) that self-check the forecast pipeline.</a:t>
            </a:r>
          </a:p>
        </p:txBody>
      </p:sp>
      <p:sp>
        <p:nvSpPr>
          <p:cNvPr id="39" name="Rounded Rectangle 38"/>
          <p:cNvSpPr/>
          <p:nvPr/>
        </p:nvSpPr>
        <p:spPr>
          <a:xfrm>
            <a:off x="9811512" y="5641848"/>
            <a:ext cx="155448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11512" y="5641848"/>
            <a:ext cx="155448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41" name="TextBox 40"/>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15 / 22</a:t>
            </a:r>
          </a:p>
        </p:txBody>
      </p:sp>
      <p:sp>
        <p:nvSpPr>
          <p:cNvPr id="42" name="TextBox 41"/>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CROSS-CUTTING LAYER — REPORTING</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Reporting and Intelligence Layer</a:t>
            </a:r>
          </a:p>
        </p:txBody>
      </p:sp>
      <p:sp>
        <p:nvSpPr>
          <p:cNvPr id="5" name="Rounded Rectangle 4"/>
          <p:cNvSpPr/>
          <p:nvPr/>
        </p:nvSpPr>
        <p:spPr>
          <a:xfrm>
            <a:off x="640080" y="1691640"/>
            <a:ext cx="3392424" cy="1920240"/>
          </a:xfrm>
          <a:prstGeom prst="roundRect">
            <a:avLst>
              <a:gd name="adj" fmla="val 7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01368"/>
            <a:ext cx="2990088" cy="502920"/>
          </a:xfrm>
          <a:prstGeom prst="rect">
            <a:avLst/>
          </a:prstGeom>
          <a:noFill/>
        </p:spPr>
        <p:txBody>
          <a:bodyPr wrap="square" anchor="t" lIns="0" rIns="0" tIns="0" bIns="0">
            <a:spAutoFit/>
          </a:bodyPr>
          <a:lstStyle/>
          <a:p>
            <a:pPr algn="l">
              <a:lnSpc>
                <a:spcPct val="100000"/>
              </a:lnSpc>
            </a:pPr>
            <a:r>
              <a:rPr sz="2600" b="1" i="0">
                <a:solidFill>
                  <a:srgbClr val="22D3EE"/>
                </a:solidFill>
                <a:latin typeface="Segoe UI Semibold"/>
              </a:rPr>
              <a:t>1</a:t>
            </a:r>
          </a:p>
        </p:txBody>
      </p:sp>
      <p:sp>
        <p:nvSpPr>
          <p:cNvPr id="7" name="TextBox 6"/>
          <p:cNvSpPr txBox="1"/>
          <p:nvPr/>
        </p:nvSpPr>
        <p:spPr>
          <a:xfrm>
            <a:off x="841248" y="2331720"/>
            <a:ext cx="2990088" cy="45720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Specify report type &amp; period</a:t>
            </a:r>
          </a:p>
        </p:txBody>
      </p:sp>
      <p:sp>
        <p:nvSpPr>
          <p:cNvPr id="8" name="TextBox 7"/>
          <p:cNvSpPr txBox="1"/>
          <p:nvPr/>
        </p:nvSpPr>
        <p:spPr>
          <a:xfrm>
            <a:off x="841248" y="2770632"/>
            <a:ext cx="2990088" cy="77724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PUC/ERCOT/EIA, settlements, cash, accounting, tax, lien evaluation, or an ad hoc management report</a:t>
            </a:r>
          </a:p>
        </p:txBody>
      </p:sp>
      <p:sp>
        <p:nvSpPr>
          <p:cNvPr id="9" name="TextBox 8"/>
          <p:cNvSpPr txBox="1"/>
          <p:nvPr/>
        </p:nvSpPr>
        <p:spPr>
          <a:xfrm>
            <a:off x="4032504" y="2468880"/>
            <a:ext cx="365760" cy="365760"/>
          </a:xfrm>
          <a:prstGeom prst="rect">
            <a:avLst/>
          </a:prstGeom>
          <a:noFill/>
        </p:spPr>
        <p:txBody>
          <a:bodyPr wrap="square" anchor="ctr" lIns="0" rIns="0" tIns="0" bIns="0">
            <a:spAutoFit/>
          </a:bodyPr>
          <a:lstStyle/>
          <a:p>
            <a:pPr algn="ctr">
              <a:lnSpc>
                <a:spcPct val="100000"/>
              </a:lnSpc>
            </a:pPr>
            <a:r>
              <a:rPr sz="2200" b="0" i="0">
                <a:solidFill>
                  <a:srgbClr val="22D3EE"/>
                </a:solidFill>
                <a:latin typeface="Segoe UI"/>
              </a:rPr>
              <a:t>→</a:t>
            </a:r>
          </a:p>
        </p:txBody>
      </p:sp>
      <p:sp>
        <p:nvSpPr>
          <p:cNvPr id="10" name="Rounded Rectangle 9"/>
          <p:cNvSpPr/>
          <p:nvPr/>
        </p:nvSpPr>
        <p:spPr>
          <a:xfrm>
            <a:off x="4398264" y="1691640"/>
            <a:ext cx="3392424" cy="1920240"/>
          </a:xfrm>
          <a:prstGeom prst="roundRect">
            <a:avLst>
              <a:gd name="adj" fmla="val 7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9432" y="1801368"/>
            <a:ext cx="2990088" cy="502920"/>
          </a:xfrm>
          <a:prstGeom prst="rect">
            <a:avLst/>
          </a:prstGeom>
          <a:noFill/>
        </p:spPr>
        <p:txBody>
          <a:bodyPr wrap="square" anchor="t" lIns="0" rIns="0" tIns="0" bIns="0">
            <a:spAutoFit/>
          </a:bodyPr>
          <a:lstStyle/>
          <a:p>
            <a:pPr algn="l">
              <a:lnSpc>
                <a:spcPct val="100000"/>
              </a:lnSpc>
            </a:pPr>
            <a:r>
              <a:rPr sz="2600" b="1" i="0">
                <a:solidFill>
                  <a:srgbClr val="22D3EE"/>
                </a:solidFill>
                <a:latin typeface="Segoe UI Semibold"/>
              </a:rPr>
              <a:t>2</a:t>
            </a:r>
          </a:p>
        </p:txBody>
      </p:sp>
      <p:sp>
        <p:nvSpPr>
          <p:cNvPr id="12" name="TextBox 11"/>
          <p:cNvSpPr txBox="1"/>
          <p:nvPr/>
        </p:nvSpPr>
        <p:spPr>
          <a:xfrm>
            <a:off x="4599432" y="2331720"/>
            <a:ext cx="2990088" cy="45720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ORBIC generates the report</a:t>
            </a:r>
          </a:p>
        </p:txBody>
      </p:sp>
      <p:sp>
        <p:nvSpPr>
          <p:cNvPr id="13" name="TextBox 12"/>
          <p:cNvSpPr txBox="1"/>
          <p:nvPr/>
        </p:nvSpPr>
        <p:spPr>
          <a:xfrm>
            <a:off x="4599432" y="2770632"/>
            <a:ext cx="2990088" cy="77724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Pulled live from the same underlying data model every engine writes to</a:t>
            </a:r>
          </a:p>
        </p:txBody>
      </p:sp>
      <p:sp>
        <p:nvSpPr>
          <p:cNvPr id="14" name="TextBox 13"/>
          <p:cNvSpPr txBox="1"/>
          <p:nvPr/>
        </p:nvSpPr>
        <p:spPr>
          <a:xfrm>
            <a:off x="7790688" y="2468880"/>
            <a:ext cx="365760" cy="365760"/>
          </a:xfrm>
          <a:prstGeom prst="rect">
            <a:avLst/>
          </a:prstGeom>
          <a:noFill/>
        </p:spPr>
        <p:txBody>
          <a:bodyPr wrap="square" anchor="ctr" lIns="0" rIns="0" tIns="0" bIns="0">
            <a:spAutoFit/>
          </a:bodyPr>
          <a:lstStyle/>
          <a:p>
            <a:pPr algn="ctr">
              <a:lnSpc>
                <a:spcPct val="100000"/>
              </a:lnSpc>
            </a:pPr>
            <a:r>
              <a:rPr sz="2200" b="0" i="0">
                <a:solidFill>
                  <a:srgbClr val="22D3EE"/>
                </a:solidFill>
                <a:latin typeface="Segoe UI"/>
              </a:rPr>
              <a:t>→</a:t>
            </a:r>
          </a:p>
        </p:txBody>
      </p:sp>
      <p:sp>
        <p:nvSpPr>
          <p:cNvPr id="15" name="Rounded Rectangle 14"/>
          <p:cNvSpPr/>
          <p:nvPr/>
        </p:nvSpPr>
        <p:spPr>
          <a:xfrm>
            <a:off x="8156448" y="1691640"/>
            <a:ext cx="3392424" cy="1920240"/>
          </a:xfrm>
          <a:prstGeom prst="roundRect">
            <a:avLst>
              <a:gd name="adj" fmla="val 7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1801368"/>
            <a:ext cx="2990088" cy="502920"/>
          </a:xfrm>
          <a:prstGeom prst="rect">
            <a:avLst/>
          </a:prstGeom>
          <a:noFill/>
        </p:spPr>
        <p:txBody>
          <a:bodyPr wrap="square" anchor="t" lIns="0" rIns="0" tIns="0" bIns="0">
            <a:spAutoFit/>
          </a:bodyPr>
          <a:lstStyle/>
          <a:p>
            <a:pPr algn="l">
              <a:lnSpc>
                <a:spcPct val="100000"/>
              </a:lnSpc>
            </a:pPr>
            <a:r>
              <a:rPr sz="2600" b="1" i="0">
                <a:solidFill>
                  <a:srgbClr val="22D3EE"/>
                </a:solidFill>
                <a:latin typeface="Segoe UI Semibold"/>
              </a:rPr>
              <a:t>3</a:t>
            </a:r>
          </a:p>
        </p:txBody>
      </p:sp>
      <p:sp>
        <p:nvSpPr>
          <p:cNvPr id="17" name="TextBox 16"/>
          <p:cNvSpPr txBox="1"/>
          <p:nvPr/>
        </p:nvSpPr>
        <p:spPr>
          <a:xfrm>
            <a:off x="8357616" y="2331720"/>
            <a:ext cx="2990088" cy="45720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Saved to the report library</a:t>
            </a:r>
          </a:p>
        </p:txBody>
      </p:sp>
      <p:sp>
        <p:nvSpPr>
          <p:cNvPr id="18" name="TextBox 17"/>
          <p:cNvSpPr txBox="1"/>
          <p:nvPr/>
        </p:nvSpPr>
        <p:spPr>
          <a:xfrm>
            <a:off x="8357616" y="2770632"/>
            <a:ext cx="2990088" cy="77724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Versioned and retrievable — no re-running a one-off script to get the same report again</a:t>
            </a:r>
          </a:p>
        </p:txBody>
      </p:sp>
      <p:sp>
        <p:nvSpPr>
          <p:cNvPr id="19" name="Rounded Rectangle 18"/>
          <p:cNvSpPr/>
          <p:nvPr/>
        </p:nvSpPr>
        <p:spPr>
          <a:xfrm>
            <a:off x="640080" y="3886200"/>
            <a:ext cx="2194560" cy="329184"/>
          </a:xfrm>
          <a:prstGeom prst="roundRect">
            <a:avLst>
              <a:gd name="adj" fmla="val 50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886200"/>
            <a:ext cx="2194560" cy="329184"/>
          </a:xfrm>
          <a:prstGeom prst="rect">
            <a:avLst/>
          </a:prstGeom>
          <a:noFill/>
        </p:spPr>
        <p:txBody>
          <a:bodyPr wrap="square" anchor="ctr" lIns="0" rIns="0" tIns="0" bIns="0">
            <a:spAutoFit/>
          </a:bodyPr>
          <a:lstStyle/>
          <a:p>
            <a:pPr algn="ctr">
              <a:lnSpc>
                <a:spcPct val="100000"/>
              </a:lnSpc>
            </a:pPr>
            <a:r>
              <a:rPr sz="1050" b="1" i="0">
                <a:solidFill>
                  <a:srgbClr val="F5A623"/>
                </a:solidFill>
                <a:latin typeface="Segoe UI Semibold"/>
              </a:rPr>
              <a:t>IN PROGRESS</a:t>
            </a:r>
          </a:p>
        </p:txBody>
      </p:sp>
      <p:sp>
        <p:nvSpPr>
          <p:cNvPr id="21" name="TextBox 20"/>
          <p:cNvSpPr txBox="1"/>
          <p:nvPr/>
        </p:nvSpPr>
        <p:spPr>
          <a:xfrm>
            <a:off x="3017520" y="3886200"/>
            <a:ext cx="8503920" cy="329184"/>
          </a:xfrm>
          <a:prstGeom prst="rect">
            <a:avLst/>
          </a:prstGeom>
          <a:noFill/>
        </p:spPr>
        <p:txBody>
          <a:bodyPr wrap="square" anchor="ctr" lIns="0" rIns="0" tIns="0" bIns="0">
            <a:spAutoFit/>
          </a:bodyPr>
          <a:lstStyle/>
          <a:p>
            <a:pPr algn="l">
              <a:lnSpc>
                <a:spcPct val="100000"/>
              </a:lnSpc>
            </a:pPr>
            <a:r>
              <a:rPr sz="1250" b="0" i="0">
                <a:solidFill>
                  <a:srgbClr val="8CA0BC"/>
                </a:solidFill>
                <a:latin typeface="Segoe UI"/>
              </a:rPr>
              <a:t>Report-generation module is structured and in progress — it is flagged directly in the product's own navigation as an upcoming feature.</a:t>
            </a:r>
          </a:p>
        </p:txBody>
      </p:sp>
      <p:sp>
        <p:nvSpPr>
          <p:cNvPr id="22" name="TextBox 21"/>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16 / 22</a:t>
            </a:r>
          </a:p>
        </p:txBody>
      </p:sp>
      <p:sp>
        <p:nvSpPr>
          <p:cNvPr id="23" name="TextBox 22"/>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MARKET OPPORTUNITY</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600" b="1" i="0">
                <a:solidFill>
                  <a:srgbClr val="E8EEF7"/>
                </a:solidFill>
                <a:latin typeface="Segoe UI Semibold"/>
              </a:rPr>
              <a:t>A large, underserved long tail of small-to-mid REPs</a:t>
            </a:r>
          </a:p>
        </p:txBody>
      </p:sp>
      <p:sp>
        <p:nvSpPr>
          <p:cNvPr id="5" name="Rounded Rectangle 4"/>
          <p:cNvSpPr/>
          <p:nvPr/>
        </p:nvSpPr>
        <p:spPr>
          <a:xfrm>
            <a:off x="640080" y="1508760"/>
            <a:ext cx="3502152" cy="160020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3502152" cy="548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691640"/>
            <a:ext cx="3063240" cy="5943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140</a:t>
            </a:r>
          </a:p>
        </p:txBody>
      </p:sp>
      <p:sp>
        <p:nvSpPr>
          <p:cNvPr id="8" name="TextBox 7"/>
          <p:cNvSpPr txBox="1"/>
          <p:nvPr/>
        </p:nvSpPr>
        <p:spPr>
          <a:xfrm>
            <a:off x="859536" y="2313432"/>
            <a:ext cx="3063240" cy="68580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PUCT-certified REPs operating in ERCOT today</a:t>
            </a:r>
          </a:p>
        </p:txBody>
      </p:sp>
      <p:sp>
        <p:nvSpPr>
          <p:cNvPr id="9" name="Rounded Rectangle 8"/>
          <p:cNvSpPr/>
          <p:nvPr/>
        </p:nvSpPr>
        <p:spPr>
          <a:xfrm>
            <a:off x="4343400" y="1508760"/>
            <a:ext cx="3502152" cy="160020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508760"/>
            <a:ext cx="3502152" cy="5486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2856" y="1691640"/>
            <a:ext cx="3063240" cy="5943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63–78%</a:t>
            </a:r>
          </a:p>
        </p:txBody>
      </p:sp>
      <p:sp>
        <p:nvSpPr>
          <p:cNvPr id="12" name="TextBox 11"/>
          <p:cNvSpPr txBox="1"/>
          <p:nvPr/>
        </p:nvSpPr>
        <p:spPr>
          <a:xfrm>
            <a:off x="4562856" y="2313432"/>
            <a:ext cx="3063240" cy="68580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of Texas residential share held by just the top 3 incumbents — everyone else is long tail</a:t>
            </a:r>
          </a:p>
        </p:txBody>
      </p:sp>
      <p:sp>
        <p:nvSpPr>
          <p:cNvPr id="13" name="Rounded Rectangle 12"/>
          <p:cNvSpPr/>
          <p:nvPr/>
        </p:nvSpPr>
        <p:spPr>
          <a:xfrm>
            <a:off x="8046720" y="1508760"/>
            <a:ext cx="3502152" cy="160020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508760"/>
            <a:ext cx="3502152" cy="54864"/>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1691640"/>
            <a:ext cx="3063240" cy="594360"/>
          </a:xfrm>
          <a:prstGeom prst="rect">
            <a:avLst/>
          </a:prstGeom>
          <a:noFill/>
        </p:spPr>
        <p:txBody>
          <a:bodyPr wrap="square" anchor="t" lIns="0" rIns="0" tIns="0" bIns="0">
            <a:spAutoFit/>
          </a:bodyPr>
          <a:lstStyle/>
          <a:p>
            <a:pPr algn="l">
              <a:lnSpc>
                <a:spcPct val="100000"/>
              </a:lnSpc>
            </a:pPr>
            <a:r>
              <a:rPr sz="2800" b="1" i="0">
                <a:solidFill>
                  <a:srgbClr val="E8EEF7"/>
                </a:solidFill>
                <a:latin typeface="Segoe UI Semibold"/>
              </a:rPr>
              <a:t>13 states + DC</a:t>
            </a:r>
          </a:p>
        </p:txBody>
      </p:sp>
      <p:sp>
        <p:nvSpPr>
          <p:cNvPr id="16" name="TextBox 15"/>
          <p:cNvSpPr txBox="1"/>
          <p:nvPr/>
        </p:nvSpPr>
        <p:spPr>
          <a:xfrm>
            <a:off x="8266176" y="2313432"/>
            <a:ext cx="3063240" cy="685800"/>
          </a:xfrm>
          <a:prstGeom prst="rect">
            <a:avLst/>
          </a:prstGeom>
          <a:noFill/>
        </p:spPr>
        <p:txBody>
          <a:bodyPr wrap="square" anchor="t" lIns="0" rIns="0" tIns="0" bIns="0">
            <a:spAutoFit/>
          </a:bodyPr>
          <a:lstStyle/>
          <a:p>
            <a:pPr algn="l">
              <a:lnSpc>
                <a:spcPct val="112000"/>
              </a:lnSpc>
            </a:pPr>
            <a:r>
              <a:rPr sz="1150" b="0" i="0">
                <a:solidFill>
                  <a:srgbClr val="8CA0BC"/>
                </a:solidFill>
                <a:latin typeface="Segoe UI"/>
              </a:rPr>
              <a:t>have residential retail choice nationally — ERCOT is the beachhead, not the ceiling</a:t>
            </a:r>
          </a:p>
        </p:txBody>
      </p:sp>
      <p:sp>
        <p:nvSpPr>
          <p:cNvPr id="17" name="Rounded Rectangle 16"/>
          <p:cNvSpPr/>
          <p:nvPr/>
        </p:nvSpPr>
        <p:spPr>
          <a:xfrm>
            <a:off x="640080" y="3383280"/>
            <a:ext cx="10908792" cy="2377440"/>
          </a:xfrm>
          <a:prstGeom prst="roundRect">
            <a:avLst>
              <a:gd name="adj" fmla="val 5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66160"/>
            <a:ext cx="10424160" cy="36576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ORBIC Pricing — Target Segment: REPs with 0–50k Meters</a:t>
            </a:r>
          </a:p>
        </p:txBody>
      </p:sp>
      <p:sp>
        <p:nvSpPr>
          <p:cNvPr id="19" name="TextBox 18"/>
          <p:cNvSpPr txBox="1"/>
          <p:nvPr/>
        </p:nvSpPr>
        <p:spPr>
          <a:xfrm>
            <a:off x="868680" y="4069080"/>
            <a:ext cx="5943600" cy="365760"/>
          </a:xfrm>
          <a:prstGeom prst="rect">
            <a:avLst/>
          </a:prstGeom>
          <a:noFill/>
        </p:spPr>
        <p:txBody>
          <a:bodyPr wrap="square" anchor="t" lIns="0" rIns="0" tIns="0" bIns="0">
            <a:spAutoFit/>
          </a:bodyPr>
          <a:lstStyle/>
          <a:p>
            <a:pPr algn="l">
              <a:lnSpc>
                <a:spcPct val="100000"/>
              </a:lnSpc>
            </a:pPr>
            <a:r>
              <a:rPr sz="1300" b="0" i="0">
                <a:solidFill>
                  <a:srgbClr val="8CA0BC"/>
                </a:solidFill>
                <a:latin typeface="Segoe UI"/>
              </a:rPr>
              <a:t>Under 10,000 meters</a:t>
            </a:r>
          </a:p>
        </p:txBody>
      </p:sp>
      <p:sp>
        <p:nvSpPr>
          <p:cNvPr id="20" name="TextBox 19"/>
          <p:cNvSpPr txBox="1"/>
          <p:nvPr/>
        </p:nvSpPr>
        <p:spPr>
          <a:xfrm>
            <a:off x="6858000" y="4069080"/>
            <a:ext cx="3776472" cy="365760"/>
          </a:xfrm>
          <a:prstGeom prst="rect">
            <a:avLst/>
          </a:prstGeom>
          <a:noFill/>
        </p:spPr>
        <p:txBody>
          <a:bodyPr wrap="square" anchor="t" lIns="0" rIns="0" tIns="0" bIns="0">
            <a:spAutoFit/>
          </a:bodyPr>
          <a:lstStyle/>
          <a:p>
            <a:pPr algn="r">
              <a:lnSpc>
                <a:spcPct val="100000"/>
              </a:lnSpc>
            </a:pPr>
            <a:r>
              <a:rPr sz="1300" b="1" i="0">
                <a:solidFill>
                  <a:srgbClr val="22D3EE"/>
                </a:solidFill>
                <a:latin typeface="Segoe UI"/>
              </a:rPr>
              <a:t>$2.50 / meter / month</a:t>
            </a:r>
          </a:p>
        </p:txBody>
      </p:sp>
      <p:sp>
        <p:nvSpPr>
          <p:cNvPr id="21" name="TextBox 20"/>
          <p:cNvSpPr txBox="1"/>
          <p:nvPr/>
        </p:nvSpPr>
        <p:spPr>
          <a:xfrm>
            <a:off x="868680" y="4453128"/>
            <a:ext cx="5943600" cy="365760"/>
          </a:xfrm>
          <a:prstGeom prst="rect">
            <a:avLst/>
          </a:prstGeom>
          <a:noFill/>
        </p:spPr>
        <p:txBody>
          <a:bodyPr wrap="square" anchor="t" lIns="0" rIns="0" tIns="0" bIns="0">
            <a:spAutoFit/>
          </a:bodyPr>
          <a:lstStyle/>
          <a:p>
            <a:pPr algn="l">
              <a:lnSpc>
                <a:spcPct val="100000"/>
              </a:lnSpc>
            </a:pPr>
            <a:r>
              <a:rPr sz="1300" b="0" i="0">
                <a:solidFill>
                  <a:srgbClr val="8CA0BC"/>
                </a:solidFill>
                <a:latin typeface="Segoe UI"/>
              </a:rPr>
              <a:t>10,000+ meters</a:t>
            </a:r>
          </a:p>
        </p:txBody>
      </p:sp>
      <p:sp>
        <p:nvSpPr>
          <p:cNvPr id="22" name="TextBox 21"/>
          <p:cNvSpPr txBox="1"/>
          <p:nvPr/>
        </p:nvSpPr>
        <p:spPr>
          <a:xfrm>
            <a:off x="6858000" y="4453128"/>
            <a:ext cx="3776472" cy="365760"/>
          </a:xfrm>
          <a:prstGeom prst="rect">
            <a:avLst/>
          </a:prstGeom>
          <a:noFill/>
        </p:spPr>
        <p:txBody>
          <a:bodyPr wrap="square" anchor="t" lIns="0" rIns="0" tIns="0" bIns="0">
            <a:spAutoFit/>
          </a:bodyPr>
          <a:lstStyle/>
          <a:p>
            <a:pPr algn="r">
              <a:lnSpc>
                <a:spcPct val="100000"/>
              </a:lnSpc>
            </a:pPr>
            <a:r>
              <a:rPr sz="1300" b="1" i="0">
                <a:solidFill>
                  <a:srgbClr val="22D3EE"/>
                </a:solidFill>
                <a:latin typeface="Segoe UI"/>
              </a:rPr>
              <a:t>$2.00 / meter / month</a:t>
            </a:r>
          </a:p>
        </p:txBody>
      </p:sp>
      <p:sp>
        <p:nvSpPr>
          <p:cNvPr id="23" name="TextBox 22"/>
          <p:cNvSpPr txBox="1"/>
          <p:nvPr/>
        </p:nvSpPr>
        <p:spPr>
          <a:xfrm>
            <a:off x="868680" y="4910328"/>
            <a:ext cx="10149840" cy="365760"/>
          </a:xfrm>
          <a:prstGeom prst="rect">
            <a:avLst/>
          </a:prstGeom>
          <a:noFill/>
        </p:spPr>
        <p:txBody>
          <a:bodyPr wrap="square" anchor="t" lIns="0" rIns="0" tIns="0" bIns="0">
            <a:spAutoFit/>
          </a:bodyPr>
          <a:lstStyle/>
          <a:p>
            <a:pPr algn="l">
              <a:lnSpc>
                <a:spcPct val="100000"/>
              </a:lnSpc>
            </a:pPr>
            <a:r>
              <a:rPr sz="1350" b="1" i="0">
                <a:solidFill>
                  <a:srgbClr val="34D399"/>
                </a:solidFill>
                <a:latin typeface="Segoe UI"/>
              </a:rPr>
              <a:t>→ $150K–$1.2M ARR per REP across the 5k–50k meter target range</a:t>
            </a:r>
          </a:p>
        </p:txBody>
      </p:sp>
      <p:sp>
        <p:nvSpPr>
          <p:cNvPr id="24" name="TextBox 23"/>
          <p:cNvSpPr txBox="1"/>
          <p:nvPr/>
        </p:nvSpPr>
        <p:spPr>
          <a:xfrm>
            <a:off x="868680" y="5276088"/>
            <a:ext cx="10149840" cy="320040"/>
          </a:xfrm>
          <a:prstGeom prst="rect">
            <a:avLst/>
          </a:prstGeom>
          <a:noFill/>
        </p:spPr>
        <p:txBody>
          <a:bodyPr wrap="square" anchor="t" lIns="0" rIns="0" tIns="0" bIns="0">
            <a:spAutoFit/>
          </a:bodyPr>
          <a:lstStyle/>
          <a:p>
            <a:pPr algn="l">
              <a:lnSpc>
                <a:spcPct val="100000"/>
              </a:lnSpc>
            </a:pPr>
            <a:r>
              <a:rPr sz="1050" b="0" i="1">
                <a:solidFill>
                  <a:srgbClr val="5F708A"/>
                </a:solidFill>
                <a:latin typeface="Segoe UI"/>
              </a:rPr>
              <a:t>Illustrative, based on ORBIC's own stated pricing — not a market-size figure.</a:t>
            </a:r>
          </a:p>
        </p:txBody>
      </p:sp>
      <p:sp>
        <p:nvSpPr>
          <p:cNvPr id="25" name="TextBox 24"/>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17 / 22</a:t>
            </a:r>
          </a:p>
        </p:txBody>
      </p:sp>
      <p:sp>
        <p:nvSpPr>
          <p:cNvPr id="26" name="TextBox 25"/>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COMPETITIVE LANDSCAPE</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400" b="1" i="0">
                <a:solidFill>
                  <a:srgbClr val="E8EEF7"/>
                </a:solidFill>
                <a:latin typeface="Segoe UI Semibold"/>
              </a:rPr>
              <a:t>Full-stack platforms are arriving — none built for the small/mid REP</a:t>
            </a:r>
          </a:p>
        </p:txBody>
      </p:sp>
      <p:sp>
        <p:nvSpPr>
          <p:cNvPr id="5" name="Rounded Rectangle 4"/>
          <p:cNvSpPr/>
          <p:nvPr/>
        </p:nvSpPr>
        <p:spPr>
          <a:xfrm>
            <a:off x="640080" y="1463040"/>
            <a:ext cx="10908792" cy="1325880"/>
          </a:xfrm>
          <a:prstGeom prst="roundRect">
            <a:avLst>
              <a:gd name="adj" fmla="val 5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63040"/>
            <a:ext cx="54864" cy="13258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91056"/>
            <a:ext cx="10424160"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VertexOne / VXretail</a:t>
            </a:r>
          </a:p>
        </p:txBody>
      </p:sp>
      <p:sp>
        <p:nvSpPr>
          <p:cNvPr id="8" name="TextBox 7"/>
          <p:cNvSpPr txBox="1"/>
          <p:nvPr/>
        </p:nvSpPr>
        <p:spPr>
          <a:xfrm>
            <a:off x="868680" y="1956816"/>
            <a:ext cx="10424160" cy="41148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CIS &amp; billing incumbent — 400+ cloud customers; named live ERCOT REP customers (Graviti Power, Gridmatic Retail, Summer Energy Northeast).</a:t>
            </a:r>
          </a:p>
        </p:txBody>
      </p:sp>
      <p:sp>
        <p:nvSpPr>
          <p:cNvPr id="9" name="TextBox 8"/>
          <p:cNvSpPr txBox="1"/>
          <p:nvPr/>
        </p:nvSpPr>
        <p:spPr>
          <a:xfrm>
            <a:off x="868680" y="2359152"/>
            <a:ext cx="10424160" cy="384048"/>
          </a:xfrm>
          <a:prstGeom prst="rect">
            <a:avLst/>
          </a:prstGeom>
          <a:noFill/>
        </p:spPr>
        <p:txBody>
          <a:bodyPr wrap="square" anchor="t" lIns="0" rIns="0" tIns="0" bIns="0">
            <a:spAutoFit/>
          </a:bodyPr>
          <a:lstStyle/>
          <a:p>
            <a:pPr algn="l">
              <a:lnSpc>
                <a:spcPct val="110000"/>
              </a:lnSpc>
            </a:pPr>
            <a:r>
              <a:rPr sz="1200" b="0" i="0">
                <a:solidFill>
                  <a:srgbClr val="F5A623"/>
                </a:solidFill>
                <a:latin typeface="Segoe UI"/>
              </a:rPr>
              <a:t>Gap for ORBIC: Billing/CIS only — no integrated portfolio, risk, or AI layer.</a:t>
            </a:r>
          </a:p>
        </p:txBody>
      </p:sp>
      <p:sp>
        <p:nvSpPr>
          <p:cNvPr id="10" name="Rounded Rectangle 9"/>
          <p:cNvSpPr/>
          <p:nvPr/>
        </p:nvSpPr>
        <p:spPr>
          <a:xfrm>
            <a:off x="640080" y="2926080"/>
            <a:ext cx="10908792" cy="1325880"/>
          </a:xfrm>
          <a:prstGeom prst="roundRect">
            <a:avLst>
              <a:gd name="adj" fmla="val 5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926080"/>
            <a:ext cx="54864" cy="13258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54096"/>
            <a:ext cx="10424160"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Kraken Technologies (Octopus Energy)</a:t>
            </a:r>
          </a:p>
        </p:txBody>
      </p:sp>
      <p:sp>
        <p:nvSpPr>
          <p:cNvPr id="13" name="TextBox 12"/>
          <p:cNvSpPr txBox="1"/>
          <p:nvPr/>
        </p:nvSpPr>
        <p:spPr>
          <a:xfrm>
            <a:off x="868680" y="3419856"/>
            <a:ext cx="10424160" cy="41148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Global full-stack platform — signed a 5-year deal with Champion Energy Services (2025) to bring Kraken into Texas residential.</a:t>
            </a:r>
          </a:p>
        </p:txBody>
      </p:sp>
      <p:sp>
        <p:nvSpPr>
          <p:cNvPr id="14" name="TextBox 13"/>
          <p:cNvSpPr txBox="1"/>
          <p:nvPr/>
        </p:nvSpPr>
        <p:spPr>
          <a:xfrm>
            <a:off x="868680" y="3822192"/>
            <a:ext cx="10424160" cy="384048"/>
          </a:xfrm>
          <a:prstGeom prst="rect">
            <a:avLst/>
          </a:prstGeom>
          <a:noFill/>
        </p:spPr>
        <p:txBody>
          <a:bodyPr wrap="square" anchor="t" lIns="0" rIns="0" tIns="0" bIns="0">
            <a:spAutoFit/>
          </a:bodyPr>
          <a:lstStyle/>
          <a:p>
            <a:pPr algn="l">
              <a:lnSpc>
                <a:spcPct val="110000"/>
              </a:lnSpc>
            </a:pPr>
            <a:r>
              <a:rPr sz="1200" b="0" i="0">
                <a:solidFill>
                  <a:srgbClr val="F5A623"/>
                </a:solidFill>
                <a:latin typeface="Segoe UI"/>
              </a:rPr>
              <a:t>Gap for ORBIC: Entering via one large enterprise account — not priced or built for the 0–50k meter segment.</a:t>
            </a:r>
          </a:p>
        </p:txBody>
      </p:sp>
      <p:sp>
        <p:nvSpPr>
          <p:cNvPr id="15" name="Rounded Rectangle 14"/>
          <p:cNvSpPr/>
          <p:nvPr/>
        </p:nvSpPr>
        <p:spPr>
          <a:xfrm>
            <a:off x="640080" y="4389120"/>
            <a:ext cx="10908792" cy="1325880"/>
          </a:xfrm>
          <a:prstGeom prst="roundRect">
            <a:avLst>
              <a:gd name="adj" fmla="val 5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89120"/>
            <a:ext cx="54864" cy="13258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517136"/>
            <a:ext cx="10424160"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Ascend Analytics / Enverus / ZE PowerGroup</a:t>
            </a:r>
          </a:p>
        </p:txBody>
      </p:sp>
      <p:sp>
        <p:nvSpPr>
          <p:cNvPr id="18" name="TextBox 17"/>
          <p:cNvSpPr txBox="1"/>
          <p:nvPr/>
        </p:nvSpPr>
        <p:spPr>
          <a:xfrm>
            <a:off x="868680" y="4882896"/>
            <a:ext cx="10424160" cy="41148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ETRM and risk-analytics point solutions — hedging, forecasting, and trading analytics only.</a:t>
            </a:r>
          </a:p>
        </p:txBody>
      </p:sp>
      <p:sp>
        <p:nvSpPr>
          <p:cNvPr id="19" name="TextBox 18"/>
          <p:cNvSpPr txBox="1"/>
          <p:nvPr/>
        </p:nvSpPr>
        <p:spPr>
          <a:xfrm>
            <a:off x="868680" y="5285232"/>
            <a:ext cx="10424160" cy="384048"/>
          </a:xfrm>
          <a:prstGeom prst="rect">
            <a:avLst/>
          </a:prstGeom>
          <a:noFill/>
        </p:spPr>
        <p:txBody>
          <a:bodyPr wrap="square" anchor="t" lIns="0" rIns="0" tIns="0" bIns="0">
            <a:spAutoFit/>
          </a:bodyPr>
          <a:lstStyle/>
          <a:p>
            <a:pPr algn="l">
              <a:lnSpc>
                <a:spcPct val="110000"/>
              </a:lnSpc>
            </a:pPr>
            <a:r>
              <a:rPr sz="1200" b="0" i="0">
                <a:solidFill>
                  <a:srgbClr val="F5A623"/>
                </a:solidFill>
                <a:latin typeface="Segoe UI"/>
              </a:rPr>
              <a:t>Gap for ORBIC: No CIS, billing, or collections — REPs must stitch these together with a separate billing vendor.</a:t>
            </a:r>
          </a:p>
        </p:txBody>
      </p:sp>
      <p:sp>
        <p:nvSpPr>
          <p:cNvPr id="20" name="TextBox 19"/>
          <p:cNvSpPr txBox="1"/>
          <p:nvPr/>
        </p:nvSpPr>
        <p:spPr>
          <a:xfrm>
            <a:off x="640080" y="5925312"/>
            <a:ext cx="10908792" cy="457200"/>
          </a:xfrm>
          <a:prstGeom prst="rect">
            <a:avLst/>
          </a:prstGeom>
          <a:noFill/>
        </p:spPr>
        <p:txBody>
          <a:bodyPr wrap="square" anchor="t" lIns="0" rIns="0" tIns="0" bIns="0">
            <a:spAutoFit/>
          </a:bodyPr>
          <a:lstStyle/>
          <a:p>
            <a:pPr algn="ctr">
              <a:lnSpc>
                <a:spcPct val="100000"/>
              </a:lnSpc>
            </a:pPr>
            <a:r>
              <a:rPr sz="1300" b="0" i="1">
                <a:solidFill>
                  <a:srgbClr val="22D3EE"/>
                </a:solidFill>
                <a:latin typeface="Segoe UI"/>
              </a:rPr>
              <a:t>ORBIC: full-stack like Kraken, sized and priced for the small/mid REP segment VertexOne serves piecemeal and Kraken hasn't chased.</a:t>
            </a:r>
          </a:p>
        </p:txBody>
      </p:sp>
      <p:sp>
        <p:nvSpPr>
          <p:cNvPr id="21" name="TextBox 20"/>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18 / 22</a:t>
            </a:r>
          </a:p>
        </p:txBody>
      </p:sp>
      <p:sp>
        <p:nvSpPr>
          <p:cNvPr id="22" name="TextBox 21"/>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GO-TO-MARKET</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400" b="1" i="0">
                <a:solidFill>
                  <a:srgbClr val="E8EEF7"/>
                </a:solidFill>
                <a:latin typeface="Segoe UI Semibold"/>
              </a:rPr>
              <a:t>Proven in production. Focused on the segment incumbents ignore.</a:t>
            </a:r>
          </a:p>
        </p:txBody>
      </p:sp>
      <p:sp>
        <p:nvSpPr>
          <p:cNvPr id="5" name="Rounded Rectangle 4"/>
          <p:cNvSpPr/>
          <p:nvPr/>
        </p:nvSpPr>
        <p:spPr>
          <a:xfrm>
            <a:off x="640080" y="1554480"/>
            <a:ext cx="5340096" cy="178308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17830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719072"/>
            <a:ext cx="4901184"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Track Record</a:t>
            </a:r>
          </a:p>
        </p:txBody>
      </p:sp>
      <p:sp>
        <p:nvSpPr>
          <p:cNvPr id="8" name="TextBox 7"/>
          <p:cNvSpPr txBox="1"/>
          <p:nvPr/>
        </p:nvSpPr>
        <p:spPr>
          <a:xfrm>
            <a:off x="859536" y="2121408"/>
            <a:ext cx="4901184" cy="1051560"/>
          </a:xfrm>
          <a:prstGeom prst="rect">
            <a:avLst/>
          </a:prstGeom>
          <a:noFill/>
        </p:spPr>
        <p:txBody>
          <a:bodyPr wrap="square" anchor="t" lIns="0" rIns="0" tIns="0" bIns="0">
            <a:spAutoFit/>
          </a:bodyPr>
          <a:lstStyle/>
          <a:p>
            <a:pPr algn="l">
              <a:lnSpc>
                <a:spcPct val="115000"/>
              </a:lnSpc>
            </a:pPr>
            <a:r>
              <a:rPr sz="1200" b="0" i="0">
                <a:solidFill>
                  <a:srgbClr val="8CA0BC"/>
                </a:solidFill>
                <a:latin typeface="Segoe UI"/>
              </a:rPr>
              <a:t>15 years running a real, operating ERCOT REP's full stack — proven in production, not a prototype.</a:t>
            </a:r>
          </a:p>
        </p:txBody>
      </p:sp>
      <p:sp>
        <p:nvSpPr>
          <p:cNvPr id="9" name="Rounded Rectangle 8"/>
          <p:cNvSpPr/>
          <p:nvPr/>
        </p:nvSpPr>
        <p:spPr>
          <a:xfrm>
            <a:off x="6208776" y="1554480"/>
            <a:ext cx="5340096" cy="178308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1554480"/>
            <a:ext cx="54864" cy="17830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1719072"/>
            <a:ext cx="4901184"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Target Segment</a:t>
            </a:r>
          </a:p>
        </p:txBody>
      </p:sp>
      <p:sp>
        <p:nvSpPr>
          <p:cNvPr id="12" name="TextBox 11"/>
          <p:cNvSpPr txBox="1"/>
          <p:nvPr/>
        </p:nvSpPr>
        <p:spPr>
          <a:xfrm>
            <a:off x="6428232" y="2121408"/>
            <a:ext cx="4901184" cy="1051560"/>
          </a:xfrm>
          <a:prstGeom prst="rect">
            <a:avLst/>
          </a:prstGeom>
          <a:noFill/>
        </p:spPr>
        <p:txBody>
          <a:bodyPr wrap="square" anchor="t" lIns="0" rIns="0" tIns="0" bIns="0">
            <a:spAutoFit/>
          </a:bodyPr>
          <a:lstStyle/>
          <a:p>
            <a:pPr algn="l">
              <a:lnSpc>
                <a:spcPct val="115000"/>
              </a:lnSpc>
            </a:pPr>
            <a:r>
              <a:rPr sz="1200" b="0" i="0">
                <a:solidFill>
                  <a:srgbClr val="8CA0BC"/>
                </a:solidFill>
                <a:latin typeface="Segoe UI"/>
              </a:rPr>
              <a:t>REPs with 0–50k meters — below the scale where incumbents build in-house, below where enterprise CIS vendors focus.</a:t>
            </a:r>
          </a:p>
        </p:txBody>
      </p:sp>
      <p:sp>
        <p:nvSpPr>
          <p:cNvPr id="13" name="Rounded Rectangle 12"/>
          <p:cNvSpPr/>
          <p:nvPr/>
        </p:nvSpPr>
        <p:spPr>
          <a:xfrm>
            <a:off x="640080" y="3566160"/>
            <a:ext cx="5340096" cy="178308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566160"/>
            <a:ext cx="54864" cy="17830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730752"/>
            <a:ext cx="4901184"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Direct Sales</a:t>
            </a:r>
          </a:p>
        </p:txBody>
      </p:sp>
      <p:sp>
        <p:nvSpPr>
          <p:cNvPr id="16" name="TextBox 15"/>
          <p:cNvSpPr txBox="1"/>
          <p:nvPr/>
        </p:nvSpPr>
        <p:spPr>
          <a:xfrm>
            <a:off x="859536" y="4133088"/>
            <a:ext cx="4901184" cy="1051560"/>
          </a:xfrm>
          <a:prstGeom prst="rect">
            <a:avLst/>
          </a:prstGeom>
          <a:noFill/>
        </p:spPr>
        <p:txBody>
          <a:bodyPr wrap="square" anchor="t" lIns="0" rIns="0" tIns="0" bIns="0">
            <a:spAutoFit/>
          </a:bodyPr>
          <a:lstStyle/>
          <a:p>
            <a:pPr algn="l">
              <a:lnSpc>
                <a:spcPct val="115000"/>
              </a:lnSpc>
            </a:pPr>
            <a:r>
              <a:rPr sz="1200" b="0" i="0">
                <a:solidFill>
                  <a:srgbClr val="8CA0BC"/>
                </a:solidFill>
                <a:latin typeface="Segoe UI"/>
              </a:rPr>
              <a:t>Outbound to REP ops, finance, and executive leadership — the buyers who feel disconnected systems every day.</a:t>
            </a:r>
          </a:p>
        </p:txBody>
      </p:sp>
      <p:sp>
        <p:nvSpPr>
          <p:cNvPr id="17" name="Rounded Rectangle 16"/>
          <p:cNvSpPr/>
          <p:nvPr/>
        </p:nvSpPr>
        <p:spPr>
          <a:xfrm>
            <a:off x="6208776" y="3566160"/>
            <a:ext cx="5340096" cy="1783080"/>
          </a:xfrm>
          <a:prstGeom prst="roundRect">
            <a:avLst>
              <a:gd name="adj" fmla="val 6000"/>
            </a:avLst>
          </a:prstGeom>
          <a:solidFill>
            <a:srgbClr val="0F1828"/>
          </a:solidFill>
          <a:ln w="12700">
            <a:solidFill>
              <a:srgbClr val="2434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3566160"/>
            <a:ext cx="54864" cy="17830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2" y="3730752"/>
            <a:ext cx="4901184" cy="365760"/>
          </a:xfrm>
          <a:prstGeom prst="rect">
            <a:avLst/>
          </a:prstGeom>
          <a:noFill/>
        </p:spPr>
        <p:txBody>
          <a:bodyPr wrap="square" anchor="t" lIns="0" rIns="0" tIns="0" bIns="0">
            <a:spAutoFit/>
          </a:bodyPr>
          <a:lstStyle/>
          <a:p>
            <a:pPr algn="l">
              <a:lnSpc>
                <a:spcPct val="100000"/>
              </a:lnSpc>
            </a:pPr>
            <a:r>
              <a:rPr sz="1500" b="1" i="0">
                <a:solidFill>
                  <a:srgbClr val="E8EEF7"/>
                </a:solidFill>
                <a:latin typeface="Segoe UI Semibold"/>
              </a:rPr>
              <a:t>Broker Channel</a:t>
            </a:r>
          </a:p>
        </p:txBody>
      </p:sp>
      <p:sp>
        <p:nvSpPr>
          <p:cNvPr id="20" name="TextBox 19"/>
          <p:cNvSpPr txBox="1"/>
          <p:nvPr/>
        </p:nvSpPr>
        <p:spPr>
          <a:xfrm>
            <a:off x="6428232" y="4133088"/>
            <a:ext cx="4901184" cy="1051560"/>
          </a:xfrm>
          <a:prstGeom prst="rect">
            <a:avLst/>
          </a:prstGeom>
          <a:noFill/>
        </p:spPr>
        <p:txBody>
          <a:bodyPr wrap="square" anchor="t" lIns="0" rIns="0" tIns="0" bIns="0">
            <a:spAutoFit/>
          </a:bodyPr>
          <a:lstStyle/>
          <a:p>
            <a:pPr algn="l">
              <a:lnSpc>
                <a:spcPct val="115000"/>
              </a:lnSpc>
            </a:pPr>
            <a:r>
              <a:rPr sz="1200" b="0" i="0">
                <a:solidFill>
                  <a:srgbClr val="8CA0BC"/>
                </a:solidFill>
                <a:latin typeface="Segoe UI"/>
              </a:rPr>
              <a:t>The built Broker Portal already gives brokers — who touch multiple REPs at once — a reason to be in the platform, creating a channel into their REP relationships.</a:t>
            </a:r>
          </a:p>
        </p:txBody>
      </p:sp>
      <p:sp>
        <p:nvSpPr>
          <p:cNvPr id="21" name="TextBox 20"/>
          <p:cNvSpPr txBox="1"/>
          <p:nvPr/>
        </p:nvSpPr>
        <p:spPr>
          <a:xfrm>
            <a:off x="640080" y="5532120"/>
            <a:ext cx="10908792" cy="457200"/>
          </a:xfrm>
          <a:prstGeom prst="rect">
            <a:avLst/>
          </a:prstGeom>
          <a:noFill/>
        </p:spPr>
        <p:txBody>
          <a:bodyPr wrap="square" anchor="t" lIns="0" rIns="0" tIns="0" bIns="0">
            <a:spAutoFit/>
          </a:bodyPr>
          <a:lstStyle/>
          <a:p>
            <a:pPr algn="ctr">
              <a:lnSpc>
                <a:spcPct val="100000"/>
              </a:lnSpc>
            </a:pPr>
            <a:r>
              <a:rPr sz="1300" b="1" i="0">
                <a:solidFill>
                  <a:srgbClr val="34D399"/>
                </a:solidFill>
                <a:latin typeface="Segoe UI"/>
              </a:rPr>
              <a:t>Usage-based pricing ($2.00–$2.50 / meter / month) lowers the barrier to a pilot versus a multi-year enterprise CIS contract.</a:t>
            </a:r>
          </a:p>
        </p:txBody>
      </p:sp>
      <p:sp>
        <p:nvSpPr>
          <p:cNvPr id="22" name="TextBox 21"/>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19 / 22</a:t>
            </a:r>
          </a:p>
        </p:txBody>
      </p:sp>
      <p:sp>
        <p:nvSpPr>
          <p:cNvPr id="23" name="TextBox 22"/>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WHY IT'S HARD TO REPLICATE</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Defensibility</a:t>
            </a:r>
          </a:p>
        </p:txBody>
      </p:sp>
      <p:sp>
        <p:nvSpPr>
          <p:cNvPr id="5" name="Rounded Rectangle 4"/>
          <p:cNvSpPr/>
          <p:nvPr/>
        </p:nvSpPr>
        <p:spPr>
          <a:xfrm>
            <a:off x="640080" y="160020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5448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Integrated, not stitched together</a:t>
            </a:r>
          </a:p>
        </p:txBody>
      </p:sp>
      <p:sp>
        <p:nvSpPr>
          <p:cNvPr id="7" name="TextBox 6"/>
          <p:cNvSpPr txBox="1"/>
          <p:nvPr/>
        </p:nvSpPr>
        <p:spPr>
          <a:xfrm>
            <a:off x="896112" y="189280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Sales, enrollment, billing, portfolio, and collections read and write the same underlying data model — contract_renewal is the single source of truth from activation through billing.</a:t>
            </a:r>
          </a:p>
        </p:txBody>
      </p:sp>
      <p:sp>
        <p:nvSpPr>
          <p:cNvPr id="8" name="Rounded Rectangle 7"/>
          <p:cNvSpPr/>
          <p:nvPr/>
        </p:nvSpPr>
        <p:spPr>
          <a:xfrm>
            <a:off x="640080" y="237744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33172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Domain-specific operational rules encoded in the product</a:t>
            </a:r>
          </a:p>
        </p:txBody>
      </p:sp>
      <p:sp>
        <p:nvSpPr>
          <p:cNvPr id="10" name="TextBox 9"/>
          <p:cNvSpPr txBox="1"/>
          <p:nvPr/>
        </p:nvSpPr>
        <p:spPr>
          <a:xfrm>
            <a:off x="896112" y="267004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PUC's 10-day DNP notice rule is enforced in code before an execution path is even reachable, not left to a spreadsheet or a person's memory.</a:t>
            </a:r>
          </a:p>
        </p:txBody>
      </p:sp>
      <p:sp>
        <p:nvSpPr>
          <p:cNvPr id="11" name="Rounded Rectangle 10"/>
          <p:cNvSpPr/>
          <p:nvPr/>
        </p:nvSpPr>
        <p:spPr>
          <a:xfrm>
            <a:off x="640080" y="315468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310896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Cross-engine intelligence</a:t>
            </a:r>
          </a:p>
        </p:txBody>
      </p:sp>
      <p:sp>
        <p:nvSpPr>
          <p:cNvPr id="13" name="TextBox 12"/>
          <p:cNvSpPr txBox="1"/>
          <p:nvPr/>
        </p:nvSpPr>
        <p:spPr>
          <a:xfrm>
            <a:off x="896112" y="344728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The Risk Dashboard's Customer factor queries the Collections module directly — portfolio risk scoring is informed by real receivables exposure, not a static estimate.</a:t>
            </a:r>
          </a:p>
        </p:txBody>
      </p:sp>
      <p:sp>
        <p:nvSpPr>
          <p:cNvPr id="14" name="Rounded Rectangle 13"/>
          <p:cNvSpPr/>
          <p:nvPr/>
        </p:nvSpPr>
        <p:spPr>
          <a:xfrm>
            <a:off x="640080" y="393192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88620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Audit checkpoints built into daily operation</a:t>
            </a:r>
          </a:p>
        </p:txBody>
      </p:sp>
      <p:sp>
        <p:nvSpPr>
          <p:cNvPr id="16" name="TextBox 15"/>
          <p:cNvSpPr txBox="1"/>
          <p:nvPr/>
        </p:nvSpPr>
        <p:spPr>
          <a:xfrm>
            <a:off x="896112" y="422452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Four nightly self-checks on the forecast pipeline itself, plus dedicated enrollment, billing, and payment audit screens.</a:t>
            </a:r>
          </a:p>
        </p:txBody>
      </p:sp>
      <p:sp>
        <p:nvSpPr>
          <p:cNvPr id="17" name="Rounded Rectangle 16"/>
          <p:cNvSpPr/>
          <p:nvPr/>
        </p:nvSpPr>
        <p:spPr>
          <a:xfrm>
            <a:off x="640080" y="470916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466344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AI grounded in operational workflows</a:t>
            </a:r>
          </a:p>
        </p:txBody>
      </p:sp>
      <p:sp>
        <p:nvSpPr>
          <p:cNvPr id="19" name="TextBox 18"/>
          <p:cNvSpPr txBox="1"/>
          <p:nvPr/>
        </p:nvSpPr>
        <p:spPr>
          <a:xfrm>
            <a:off x="896112" y="500176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Orbi is wired to real production endpoints with an explicit no-invented-data grounding rule, not a generic chatbot layered on top.</a:t>
            </a:r>
          </a:p>
        </p:txBody>
      </p:sp>
      <p:sp>
        <p:nvSpPr>
          <p:cNvPr id="20" name="Rounded Rectangle 19"/>
          <p:cNvSpPr/>
          <p:nvPr/>
        </p:nvSpPr>
        <p:spPr>
          <a:xfrm>
            <a:off x="640080" y="5486400"/>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5440680"/>
            <a:ext cx="10332720" cy="320040"/>
          </a:xfrm>
          <a:prstGeom prst="rect">
            <a:avLst/>
          </a:prstGeom>
          <a:noFill/>
        </p:spPr>
        <p:txBody>
          <a:bodyPr wrap="square" anchor="t" lIns="0" rIns="0" tIns="0" bIns="0">
            <a:spAutoFit/>
          </a:bodyPr>
          <a:lstStyle/>
          <a:p>
            <a:pPr algn="l">
              <a:lnSpc>
                <a:spcPct val="100000"/>
              </a:lnSpc>
            </a:pPr>
            <a:r>
              <a:rPr sz="1450" b="1" i="0">
                <a:solidFill>
                  <a:srgbClr val="E8EEF7"/>
                </a:solidFill>
                <a:latin typeface="Segoe UI Semibold"/>
              </a:rPr>
              <a:t>Distinct, purpose-built products for hard sub-problems</a:t>
            </a:r>
          </a:p>
        </p:txBody>
      </p:sp>
      <p:sp>
        <p:nvSpPr>
          <p:cNvPr id="22" name="TextBox 21"/>
          <p:cNvSpPr txBox="1"/>
          <p:nvPr/>
        </p:nvSpPr>
        <p:spPr>
          <a:xfrm>
            <a:off x="896112" y="5779008"/>
            <a:ext cx="10332720" cy="502920"/>
          </a:xfrm>
          <a:prstGeom prst="rect">
            <a:avLst/>
          </a:prstGeom>
          <a:noFill/>
        </p:spPr>
        <p:txBody>
          <a:bodyPr wrap="square" anchor="t" lIns="0" rIns="0" tIns="0" bIns="0">
            <a:spAutoFit/>
          </a:bodyPr>
          <a:lstStyle/>
          <a:p>
            <a:pPr algn="l">
              <a:lnSpc>
                <a:spcPct val="110000"/>
              </a:lnSpc>
            </a:pPr>
            <a:r>
              <a:rPr sz="1200" b="0" i="0">
                <a:solidFill>
                  <a:srgbClr val="8CA0BC"/>
                </a:solidFill>
                <a:latin typeface="Segoe UI"/>
              </a:rPr>
              <a:t>The Broker Portal and the Multi-Meter Portal are standalone applications solving broker paperwork and multi-meter management specifically — not generic screens repurposed for the job.</a:t>
            </a:r>
          </a:p>
        </p:txBody>
      </p:sp>
      <p:sp>
        <p:nvSpPr>
          <p:cNvPr id="23" name="TextBox 22"/>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20 / 22</a:t>
            </a:r>
          </a:p>
        </p:txBody>
      </p:sp>
      <p:sp>
        <p:nvSpPr>
          <p:cNvPr id="24" name="TextBox 23"/>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HONEST STATUS</a:t>
            </a:r>
          </a:p>
        </p:txBody>
      </p:sp>
      <p:sp>
        <p:nvSpPr>
          <p:cNvPr id="4" name="TextBox 3"/>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0">
                <a:solidFill>
                  <a:srgbClr val="E8EEF7"/>
                </a:solidFill>
                <a:latin typeface="Segoe UI Semibold"/>
              </a:rPr>
              <a:t>Product Maturity</a:t>
            </a:r>
          </a:p>
        </p:txBody>
      </p:sp>
      <p:sp>
        <p:nvSpPr>
          <p:cNvPr id="5" name="TextBox 4"/>
          <p:cNvSpPr txBox="1"/>
          <p:nvPr/>
        </p:nvSpPr>
        <p:spPr>
          <a:xfrm>
            <a:off x="640080" y="1600200"/>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Sales capabilities (pricing, contracts, commission)</a:t>
            </a:r>
          </a:p>
        </p:txBody>
      </p:sp>
      <p:sp>
        <p:nvSpPr>
          <p:cNvPr id="6" name="Rounded Rectangle 5"/>
          <p:cNvSpPr/>
          <p:nvPr/>
        </p:nvSpPr>
        <p:spPr>
          <a:xfrm>
            <a:off x="4389120" y="1627632"/>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627632"/>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8" name="TextBox 7"/>
          <p:cNvSpPr txBox="1"/>
          <p:nvPr/>
        </p:nvSpPr>
        <p:spPr>
          <a:xfrm>
            <a:off x="640080" y="1984248"/>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Broker Portal &amp; application</a:t>
            </a:r>
          </a:p>
        </p:txBody>
      </p:sp>
      <p:sp>
        <p:nvSpPr>
          <p:cNvPr id="9" name="Rounded Rectangle 8"/>
          <p:cNvSpPr/>
          <p:nvPr/>
        </p:nvSpPr>
        <p:spPr>
          <a:xfrm>
            <a:off x="4389120" y="2011680"/>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2011680"/>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1" name="TextBox 10"/>
          <p:cNvSpPr txBox="1"/>
          <p:nvPr/>
        </p:nvSpPr>
        <p:spPr>
          <a:xfrm>
            <a:off x="640080" y="2368296"/>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Enrollment Engine &amp; MasterRoll</a:t>
            </a:r>
          </a:p>
        </p:txBody>
      </p:sp>
      <p:sp>
        <p:nvSpPr>
          <p:cNvPr id="12" name="Rounded Rectangle 11"/>
          <p:cNvSpPr/>
          <p:nvPr/>
        </p:nvSpPr>
        <p:spPr>
          <a:xfrm>
            <a:off x="4389120" y="2395728"/>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395728"/>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4" name="TextBox 13"/>
          <p:cNvSpPr txBox="1"/>
          <p:nvPr/>
        </p:nvSpPr>
        <p:spPr>
          <a:xfrm>
            <a:off x="640080" y="2752344"/>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Multi-Meter Portal</a:t>
            </a:r>
          </a:p>
        </p:txBody>
      </p:sp>
      <p:sp>
        <p:nvSpPr>
          <p:cNvPr id="15" name="Rounded Rectangle 14"/>
          <p:cNvSpPr/>
          <p:nvPr/>
        </p:nvSpPr>
        <p:spPr>
          <a:xfrm>
            <a:off x="4389120" y="2779776"/>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2779776"/>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17" name="TextBox 16"/>
          <p:cNvSpPr txBox="1"/>
          <p:nvPr/>
        </p:nvSpPr>
        <p:spPr>
          <a:xfrm>
            <a:off x="640080" y="3136392"/>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Billing Engine (EDI ingestion → tax → invoice)</a:t>
            </a:r>
          </a:p>
        </p:txBody>
      </p:sp>
      <p:sp>
        <p:nvSpPr>
          <p:cNvPr id="18" name="Rounded Rectangle 17"/>
          <p:cNvSpPr/>
          <p:nvPr/>
        </p:nvSpPr>
        <p:spPr>
          <a:xfrm>
            <a:off x="4389120" y="3163824"/>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3163824"/>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0" name="TextBox 19"/>
          <p:cNvSpPr txBox="1"/>
          <p:nvPr/>
        </p:nvSpPr>
        <p:spPr>
          <a:xfrm>
            <a:off x="640080" y="3520440"/>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Portfolio forecasting (DNA / growth / LFC layers)</a:t>
            </a:r>
          </a:p>
        </p:txBody>
      </p:sp>
      <p:sp>
        <p:nvSpPr>
          <p:cNvPr id="21" name="Rounded Rectangle 20"/>
          <p:cNvSpPr/>
          <p:nvPr/>
        </p:nvSpPr>
        <p:spPr>
          <a:xfrm>
            <a:off x="4389120" y="3547872"/>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3547872"/>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3" name="TextBox 22"/>
          <p:cNvSpPr txBox="1"/>
          <p:nvPr/>
        </p:nvSpPr>
        <p:spPr>
          <a:xfrm>
            <a:off x="640080" y="3904488"/>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7-Day LFC override</a:t>
            </a:r>
          </a:p>
        </p:txBody>
      </p:sp>
      <p:sp>
        <p:nvSpPr>
          <p:cNvPr id="24" name="Rounded Rectangle 23"/>
          <p:cNvSpPr/>
          <p:nvPr/>
        </p:nvSpPr>
        <p:spPr>
          <a:xfrm>
            <a:off x="4389120" y="3931920"/>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0" y="3931920"/>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6" name="TextBox 25"/>
          <p:cNvSpPr txBox="1"/>
          <p:nvPr/>
        </p:nvSpPr>
        <p:spPr>
          <a:xfrm>
            <a:off x="640080" y="4288536"/>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Monitoring checkpoints (4 nightly checks)</a:t>
            </a:r>
          </a:p>
        </p:txBody>
      </p:sp>
      <p:sp>
        <p:nvSpPr>
          <p:cNvPr id="27" name="Rounded Rectangle 26"/>
          <p:cNvSpPr/>
          <p:nvPr/>
        </p:nvSpPr>
        <p:spPr>
          <a:xfrm>
            <a:off x="4389120" y="4315968"/>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0" y="4315968"/>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29" name="TextBox 28"/>
          <p:cNvSpPr txBox="1"/>
          <p:nvPr/>
        </p:nvSpPr>
        <p:spPr>
          <a:xfrm>
            <a:off x="640080" y="4672584"/>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Manual mark-to-market</a:t>
            </a:r>
          </a:p>
        </p:txBody>
      </p:sp>
      <p:sp>
        <p:nvSpPr>
          <p:cNvPr id="30" name="Rounded Rectangle 29"/>
          <p:cNvSpPr/>
          <p:nvPr/>
        </p:nvSpPr>
        <p:spPr>
          <a:xfrm>
            <a:off x="4389120" y="4700016"/>
            <a:ext cx="1691640" cy="292608"/>
          </a:xfrm>
          <a:prstGeom prst="roundRect">
            <a:avLst>
              <a:gd name="adj" fmla="val 50000"/>
            </a:avLst>
          </a:prstGeom>
          <a:no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4700016"/>
            <a:ext cx="1691640" cy="292608"/>
          </a:xfrm>
          <a:prstGeom prst="rect">
            <a:avLst/>
          </a:prstGeom>
          <a:noFill/>
        </p:spPr>
        <p:txBody>
          <a:bodyPr wrap="square" anchor="ctr" lIns="0" rIns="0" tIns="0" bIns="0">
            <a:spAutoFit/>
          </a:bodyPr>
          <a:lstStyle/>
          <a:p>
            <a:pPr algn="ctr">
              <a:lnSpc>
                <a:spcPct val="100000"/>
              </a:lnSpc>
            </a:pPr>
            <a:r>
              <a:rPr sz="1050" b="1" i="0">
                <a:solidFill>
                  <a:srgbClr val="34D399"/>
                </a:solidFill>
                <a:latin typeface="Segoe UI Semibold"/>
              </a:rPr>
              <a:t>BUILT</a:t>
            </a:r>
          </a:p>
        </p:txBody>
      </p:sp>
      <p:sp>
        <p:nvSpPr>
          <p:cNvPr id="32" name="TextBox 31"/>
          <p:cNvSpPr txBox="1"/>
          <p:nvPr/>
        </p:nvSpPr>
        <p:spPr>
          <a:xfrm>
            <a:off x="6355080" y="1600200"/>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Shadow Settlements (estimate → compare → reconcile → audit)</a:t>
            </a:r>
          </a:p>
        </p:txBody>
      </p:sp>
      <p:sp>
        <p:nvSpPr>
          <p:cNvPr id="33" name="Rounded Rectangle 32"/>
          <p:cNvSpPr/>
          <p:nvPr/>
        </p:nvSpPr>
        <p:spPr>
          <a:xfrm>
            <a:off x="10104120" y="1627632"/>
            <a:ext cx="1691640" cy="292608"/>
          </a:xfrm>
          <a:prstGeom prst="roundRect">
            <a:avLst>
              <a:gd name="adj" fmla="val 50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4120" y="1627632"/>
            <a:ext cx="1691640" cy="292608"/>
          </a:xfrm>
          <a:prstGeom prst="rect">
            <a:avLst/>
          </a:prstGeom>
          <a:noFill/>
        </p:spPr>
        <p:txBody>
          <a:bodyPr wrap="square" anchor="ctr" lIns="0" rIns="0" tIns="0" bIns="0">
            <a:spAutoFit/>
          </a:bodyPr>
          <a:lstStyle/>
          <a:p>
            <a:pPr algn="ctr">
              <a:lnSpc>
                <a:spcPct val="100000"/>
              </a:lnSpc>
            </a:pPr>
            <a:r>
              <a:rPr sz="1050" b="1" i="0">
                <a:solidFill>
                  <a:srgbClr val="F5A623"/>
                </a:solidFill>
                <a:latin typeface="Segoe UI Semibold"/>
              </a:rPr>
              <a:t>IN PROGRESS</a:t>
            </a:r>
          </a:p>
        </p:txBody>
      </p:sp>
      <p:sp>
        <p:nvSpPr>
          <p:cNvPr id="35" name="TextBox 34"/>
          <p:cNvSpPr txBox="1"/>
          <p:nvPr/>
        </p:nvSpPr>
        <p:spPr>
          <a:xfrm>
            <a:off x="6355080" y="1984248"/>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Collections Agent (autonomous LLM actor)</a:t>
            </a:r>
          </a:p>
        </p:txBody>
      </p:sp>
      <p:sp>
        <p:nvSpPr>
          <p:cNvPr id="36" name="Rounded Rectangle 35"/>
          <p:cNvSpPr/>
          <p:nvPr/>
        </p:nvSpPr>
        <p:spPr>
          <a:xfrm>
            <a:off x="10104120" y="2011680"/>
            <a:ext cx="169164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4120" y="2011680"/>
            <a:ext cx="169164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38" name="TextBox 37"/>
          <p:cNvSpPr txBox="1"/>
          <p:nvPr/>
        </p:nvSpPr>
        <p:spPr>
          <a:xfrm>
            <a:off x="6355080" y="2368296"/>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Operational email assistant (standalone pipeline)</a:t>
            </a:r>
          </a:p>
        </p:txBody>
      </p:sp>
      <p:sp>
        <p:nvSpPr>
          <p:cNvPr id="39" name="Rounded Rectangle 38"/>
          <p:cNvSpPr/>
          <p:nvPr/>
        </p:nvSpPr>
        <p:spPr>
          <a:xfrm>
            <a:off x="10104120" y="2395728"/>
            <a:ext cx="1691640" cy="292608"/>
          </a:xfrm>
          <a:prstGeom prst="roundRect">
            <a:avLst>
              <a:gd name="adj" fmla="val 50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04120" y="2395728"/>
            <a:ext cx="1691640" cy="292608"/>
          </a:xfrm>
          <a:prstGeom prst="rect">
            <a:avLst/>
          </a:prstGeom>
          <a:noFill/>
        </p:spPr>
        <p:txBody>
          <a:bodyPr wrap="square" anchor="ctr" lIns="0" rIns="0" tIns="0" bIns="0">
            <a:spAutoFit/>
          </a:bodyPr>
          <a:lstStyle/>
          <a:p>
            <a:pPr algn="ctr">
              <a:lnSpc>
                <a:spcPct val="100000"/>
              </a:lnSpc>
            </a:pPr>
            <a:r>
              <a:rPr sz="1050" b="1" i="0">
                <a:solidFill>
                  <a:srgbClr val="F5A623"/>
                </a:solidFill>
                <a:latin typeface="Segoe UI Semibold"/>
              </a:rPr>
              <a:t>PARTIALLY BUILT</a:t>
            </a:r>
          </a:p>
        </p:txBody>
      </p:sp>
      <p:sp>
        <p:nvSpPr>
          <p:cNvPr id="41" name="TextBox 40"/>
          <p:cNvSpPr txBox="1"/>
          <p:nvPr/>
        </p:nvSpPr>
        <p:spPr>
          <a:xfrm>
            <a:off x="6355080" y="2752344"/>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Operational email assistant — merged into ORBIC</a:t>
            </a:r>
          </a:p>
        </p:txBody>
      </p:sp>
      <p:sp>
        <p:nvSpPr>
          <p:cNvPr id="42" name="Rounded Rectangle 41"/>
          <p:cNvSpPr/>
          <p:nvPr/>
        </p:nvSpPr>
        <p:spPr>
          <a:xfrm>
            <a:off x="10104120" y="2779776"/>
            <a:ext cx="169164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04120" y="2779776"/>
            <a:ext cx="169164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44" name="TextBox 43"/>
          <p:cNvSpPr txBox="1"/>
          <p:nvPr/>
        </p:nvSpPr>
        <p:spPr>
          <a:xfrm>
            <a:off x="6355080" y="3136392"/>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Report generation &amp; library</a:t>
            </a:r>
          </a:p>
        </p:txBody>
      </p:sp>
      <p:sp>
        <p:nvSpPr>
          <p:cNvPr id="45" name="Rounded Rectangle 44"/>
          <p:cNvSpPr/>
          <p:nvPr/>
        </p:nvSpPr>
        <p:spPr>
          <a:xfrm>
            <a:off x="10104120" y="3163824"/>
            <a:ext cx="1691640" cy="292608"/>
          </a:xfrm>
          <a:prstGeom prst="roundRect">
            <a:avLst>
              <a:gd name="adj" fmla="val 50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104120" y="3163824"/>
            <a:ext cx="1691640" cy="292608"/>
          </a:xfrm>
          <a:prstGeom prst="rect">
            <a:avLst/>
          </a:prstGeom>
          <a:noFill/>
        </p:spPr>
        <p:txBody>
          <a:bodyPr wrap="square" anchor="ctr" lIns="0" rIns="0" tIns="0" bIns="0">
            <a:spAutoFit/>
          </a:bodyPr>
          <a:lstStyle/>
          <a:p>
            <a:pPr algn="ctr">
              <a:lnSpc>
                <a:spcPct val="100000"/>
              </a:lnSpc>
            </a:pPr>
            <a:r>
              <a:rPr sz="1050" b="1" i="0">
                <a:solidFill>
                  <a:srgbClr val="F5A623"/>
                </a:solidFill>
                <a:latin typeface="Segoe UI Semibold"/>
              </a:rPr>
              <a:t>IN PROGRESS</a:t>
            </a:r>
          </a:p>
        </p:txBody>
      </p:sp>
      <p:sp>
        <p:nvSpPr>
          <p:cNvPr id="47" name="TextBox 46"/>
          <p:cNvSpPr txBox="1"/>
          <p:nvPr/>
        </p:nvSpPr>
        <p:spPr>
          <a:xfrm>
            <a:off x="6355080" y="3520440"/>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Seasonal NOAA forecast layer</a:t>
            </a:r>
          </a:p>
        </p:txBody>
      </p:sp>
      <p:sp>
        <p:nvSpPr>
          <p:cNvPr id="48" name="Rounded Rectangle 47"/>
          <p:cNvSpPr/>
          <p:nvPr/>
        </p:nvSpPr>
        <p:spPr>
          <a:xfrm>
            <a:off x="10104120" y="3547872"/>
            <a:ext cx="169164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04120" y="3547872"/>
            <a:ext cx="169164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50" name="TextBox 49"/>
          <p:cNvSpPr txBox="1"/>
          <p:nvPr/>
        </p:nvSpPr>
        <p:spPr>
          <a:xfrm>
            <a:off x="6355080" y="3904488"/>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Live MTM market-price feeds</a:t>
            </a:r>
          </a:p>
        </p:txBody>
      </p:sp>
      <p:sp>
        <p:nvSpPr>
          <p:cNvPr id="51" name="Rounded Rectangle 50"/>
          <p:cNvSpPr/>
          <p:nvPr/>
        </p:nvSpPr>
        <p:spPr>
          <a:xfrm>
            <a:off x="10104120" y="3931920"/>
            <a:ext cx="169164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04120" y="3931920"/>
            <a:ext cx="169164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53" name="TextBox 52"/>
          <p:cNvSpPr txBox="1"/>
          <p:nvPr/>
        </p:nvSpPr>
        <p:spPr>
          <a:xfrm>
            <a:off x="6355080" y="4288536"/>
            <a:ext cx="3657600" cy="384048"/>
          </a:xfrm>
          <a:prstGeom prst="rect">
            <a:avLst/>
          </a:prstGeom>
          <a:noFill/>
        </p:spPr>
        <p:txBody>
          <a:bodyPr wrap="square" anchor="ctr" lIns="0" rIns="0" tIns="0" bIns="0">
            <a:spAutoFit/>
          </a:bodyPr>
          <a:lstStyle/>
          <a:p>
            <a:pPr algn="l">
              <a:lnSpc>
                <a:spcPct val="100000"/>
              </a:lnSpc>
            </a:pPr>
            <a:r>
              <a:rPr sz="1200" b="0" i="0">
                <a:solidFill>
                  <a:srgbClr val="E8EEF7"/>
                </a:solidFill>
                <a:latin typeface="Segoe UI"/>
              </a:rPr>
              <a:t>ERCOT MIS / SMT automation</a:t>
            </a:r>
          </a:p>
        </p:txBody>
      </p:sp>
      <p:sp>
        <p:nvSpPr>
          <p:cNvPr id="54" name="Rounded Rectangle 53"/>
          <p:cNvSpPr/>
          <p:nvPr/>
        </p:nvSpPr>
        <p:spPr>
          <a:xfrm>
            <a:off x="10104120" y="4315968"/>
            <a:ext cx="1691640" cy="292608"/>
          </a:xfrm>
          <a:prstGeom prst="roundRect">
            <a:avLst>
              <a:gd name="adj" fmla="val 50000"/>
            </a:avLst>
          </a:prstGeom>
          <a:noFill/>
          <a:ln w="15875">
            <a:solidFill>
              <a:srgbClr val="5F70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04120" y="4315968"/>
            <a:ext cx="1691640" cy="292608"/>
          </a:xfrm>
          <a:prstGeom prst="rect">
            <a:avLst/>
          </a:prstGeom>
          <a:noFill/>
        </p:spPr>
        <p:txBody>
          <a:bodyPr wrap="square" anchor="ctr" lIns="0" rIns="0" tIns="0" bIns="0">
            <a:spAutoFit/>
          </a:bodyPr>
          <a:lstStyle/>
          <a:p>
            <a:pPr algn="ctr">
              <a:lnSpc>
                <a:spcPct val="100000"/>
              </a:lnSpc>
            </a:pPr>
            <a:r>
              <a:rPr sz="1050" b="1" i="0">
                <a:solidFill>
                  <a:srgbClr val="5F708A"/>
                </a:solidFill>
                <a:latin typeface="Segoe UI Semibold"/>
              </a:rPr>
              <a:t>ROADMAP</a:t>
            </a:r>
          </a:p>
        </p:txBody>
      </p:sp>
      <p:sp>
        <p:nvSpPr>
          <p:cNvPr id="56" name="TextBox 5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21 / 22</a:t>
            </a:r>
          </a:p>
        </p:txBody>
      </p:sp>
      <p:sp>
        <p:nvSpPr>
          <p:cNvPr id="57" name="TextBox 5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ero_graphic.png"/>
          <p:cNvPicPr>
            <a:picLocks noChangeAspect="1"/>
          </p:cNvPicPr>
          <p:nvPr/>
        </p:nvPicPr>
        <p:blipFill>
          <a:blip r:embed="rId2"/>
          <a:stretch>
            <a:fillRect/>
          </a:stretch>
        </p:blipFill>
        <p:spPr>
          <a:xfrm>
            <a:off x="0" y="86"/>
            <a:ext cx="12191694" cy="6857828"/>
          </a:xfrm>
          <a:prstGeom prst="rect">
            <a:avLst/>
          </a:prstGeom>
        </p:spPr>
      </p:pic>
      <p:sp>
        <p:nvSpPr>
          <p:cNvPr id="4" name="TextBox 3"/>
          <p:cNvSpPr txBox="1"/>
          <p:nvPr/>
        </p:nvSpPr>
        <p:spPr>
          <a:xfrm>
            <a:off x="640080" y="1280160"/>
            <a:ext cx="9144000" cy="320040"/>
          </a:xfrm>
          <a:prstGeom prst="rect">
            <a:avLst/>
          </a:prstGeom>
          <a:noFill/>
        </p:spPr>
        <p:txBody>
          <a:bodyPr wrap="square" anchor="t" lIns="0" rIns="0" tIns="0" bIns="0">
            <a:spAutoFit/>
          </a:bodyPr>
          <a:lstStyle/>
          <a:p>
            <a:pPr algn="l">
              <a:lnSpc>
                <a:spcPct val="100000"/>
              </a:lnSpc>
            </a:pPr>
            <a:r>
              <a:rPr sz="1300" b="1" i="0">
                <a:solidFill>
                  <a:srgbClr val="22D3EE"/>
                </a:solidFill>
                <a:latin typeface="Segoe UI Semibold"/>
              </a:rPr>
              <a:t>VISION</a:t>
            </a:r>
          </a:p>
        </p:txBody>
      </p:sp>
      <p:sp>
        <p:nvSpPr>
          <p:cNvPr id="5" name="TextBox 4"/>
          <p:cNvSpPr txBox="1"/>
          <p:nvPr/>
        </p:nvSpPr>
        <p:spPr>
          <a:xfrm>
            <a:off x="640080" y="1645920"/>
            <a:ext cx="9601200" cy="1280160"/>
          </a:xfrm>
          <a:prstGeom prst="rect">
            <a:avLst/>
          </a:prstGeom>
          <a:noFill/>
        </p:spPr>
        <p:txBody>
          <a:bodyPr wrap="square" anchor="t" lIns="0" rIns="0" tIns="0" bIns="0">
            <a:spAutoFit/>
          </a:bodyPr>
          <a:lstStyle/>
          <a:p>
            <a:pPr algn="l">
              <a:lnSpc>
                <a:spcPct val="105000"/>
              </a:lnSpc>
            </a:pPr>
            <a:r>
              <a:rPr sz="3200" b="1" i="0">
                <a:solidFill>
                  <a:srgbClr val="E8EEF7"/>
                </a:solidFill>
                <a:latin typeface="Segoe UI Semibold"/>
              </a:rPr>
              <a:t>ORBIC becomes the operating layer for retail energy providers</a:t>
            </a:r>
          </a:p>
        </p:txBody>
      </p:sp>
      <p:sp>
        <p:nvSpPr>
          <p:cNvPr id="6" name="Rounded Rectangle 5"/>
          <p:cNvSpPr/>
          <p:nvPr/>
        </p:nvSpPr>
        <p:spPr>
          <a:xfrm>
            <a:off x="640080" y="32826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00400"/>
            <a:ext cx="8430768" cy="457200"/>
          </a:xfrm>
          <a:prstGeom prst="rect">
            <a:avLst/>
          </a:prstGeom>
          <a:noFill/>
        </p:spPr>
        <p:txBody>
          <a:bodyPr wrap="square" anchor="t" lIns="0" rIns="0" tIns="0" bIns="0">
            <a:spAutoFit/>
          </a:bodyPr>
          <a:lstStyle/>
          <a:p>
            <a:pPr algn="l">
              <a:lnSpc>
                <a:spcPct val="108000"/>
              </a:lnSpc>
            </a:pPr>
            <a:r>
              <a:rPr sz="1500" b="0" i="0">
                <a:solidFill>
                  <a:srgbClr val="E8EEF7"/>
                </a:solidFill>
                <a:latin typeface="Segoe UI"/>
              </a:rPr>
              <a:t>Daily decision support across sales, operations, portfolio, and collections</a:t>
            </a:r>
          </a:p>
        </p:txBody>
      </p:sp>
      <p:sp>
        <p:nvSpPr>
          <p:cNvPr id="8" name="Rounded Rectangle 7"/>
          <p:cNvSpPr/>
          <p:nvPr/>
        </p:nvSpPr>
        <p:spPr>
          <a:xfrm>
            <a:off x="640080" y="37398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657600"/>
            <a:ext cx="8430768" cy="457200"/>
          </a:xfrm>
          <a:prstGeom prst="rect">
            <a:avLst/>
          </a:prstGeom>
          <a:noFill/>
        </p:spPr>
        <p:txBody>
          <a:bodyPr wrap="square" anchor="t" lIns="0" rIns="0" tIns="0" bIns="0">
            <a:spAutoFit/>
          </a:bodyPr>
          <a:lstStyle/>
          <a:p>
            <a:pPr algn="l">
              <a:lnSpc>
                <a:spcPct val="108000"/>
              </a:lnSpc>
            </a:pPr>
            <a:r>
              <a:rPr sz="1500" b="0" i="0">
                <a:solidFill>
                  <a:srgbClr val="E8EEF7"/>
                </a:solidFill>
                <a:latin typeface="Segoe UI"/>
              </a:rPr>
              <a:t>Deeper audit and forecasting intelligence built directly into the platform</a:t>
            </a:r>
          </a:p>
        </p:txBody>
      </p:sp>
      <p:sp>
        <p:nvSpPr>
          <p:cNvPr id="10" name="Rounded Rectangle 9"/>
          <p:cNvSpPr/>
          <p:nvPr/>
        </p:nvSpPr>
        <p:spPr>
          <a:xfrm>
            <a:off x="640080" y="41970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114800"/>
            <a:ext cx="8430768" cy="457200"/>
          </a:xfrm>
          <a:prstGeom prst="rect">
            <a:avLst/>
          </a:prstGeom>
          <a:noFill/>
        </p:spPr>
        <p:txBody>
          <a:bodyPr wrap="square" anchor="t" lIns="0" rIns="0" tIns="0" bIns="0">
            <a:spAutoFit/>
          </a:bodyPr>
          <a:lstStyle/>
          <a:p>
            <a:pPr algn="l">
              <a:lnSpc>
                <a:spcPct val="108000"/>
              </a:lnSpc>
            </a:pPr>
            <a:r>
              <a:rPr sz="1500" b="0" i="0">
                <a:solidFill>
                  <a:srgbClr val="E8EEF7"/>
                </a:solidFill>
                <a:latin typeface="Segoe UI"/>
              </a:rPr>
              <a:t>Settlement intelligence that closes the loop between billing and ERCOT settlement</a:t>
            </a:r>
          </a:p>
        </p:txBody>
      </p:sp>
      <p:sp>
        <p:nvSpPr>
          <p:cNvPr id="12" name="Rounded Rectangle 11"/>
          <p:cNvSpPr/>
          <p:nvPr/>
        </p:nvSpPr>
        <p:spPr>
          <a:xfrm>
            <a:off x="640080" y="46542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572000"/>
            <a:ext cx="8430768" cy="457200"/>
          </a:xfrm>
          <a:prstGeom prst="rect">
            <a:avLst/>
          </a:prstGeom>
          <a:noFill/>
        </p:spPr>
        <p:txBody>
          <a:bodyPr wrap="square" anchor="t" lIns="0" rIns="0" tIns="0" bIns="0">
            <a:spAutoFit/>
          </a:bodyPr>
          <a:lstStyle/>
          <a:p>
            <a:pPr algn="l">
              <a:lnSpc>
                <a:spcPct val="108000"/>
              </a:lnSpc>
            </a:pPr>
            <a:r>
              <a:rPr sz="1500" b="0" i="0">
                <a:solidFill>
                  <a:srgbClr val="E8EEF7"/>
                </a:solidFill>
                <a:latin typeface="Segoe UI"/>
              </a:rPr>
              <a:t>A collections lifecycle that scales without scaling headcount</a:t>
            </a:r>
          </a:p>
        </p:txBody>
      </p:sp>
      <p:sp>
        <p:nvSpPr>
          <p:cNvPr id="14" name="Rounded Rectangle 13"/>
          <p:cNvSpPr/>
          <p:nvPr/>
        </p:nvSpPr>
        <p:spPr>
          <a:xfrm>
            <a:off x="640080" y="5111496"/>
            <a:ext cx="82296"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029200"/>
            <a:ext cx="8430768" cy="457200"/>
          </a:xfrm>
          <a:prstGeom prst="rect">
            <a:avLst/>
          </a:prstGeom>
          <a:noFill/>
        </p:spPr>
        <p:txBody>
          <a:bodyPr wrap="square" anchor="t" lIns="0" rIns="0" tIns="0" bIns="0">
            <a:spAutoFit/>
          </a:bodyPr>
          <a:lstStyle/>
          <a:p>
            <a:pPr algn="l">
              <a:lnSpc>
                <a:spcPct val="108000"/>
              </a:lnSpc>
            </a:pPr>
            <a:r>
              <a:rPr sz="1500" b="0" i="0">
                <a:solidFill>
                  <a:srgbClr val="E8EEF7"/>
                </a:solidFill>
                <a:latin typeface="Segoe UI"/>
              </a:rPr>
              <a:t>AI-assisted operations grounded in the same data the business runs on</a:t>
            </a:r>
          </a:p>
        </p:txBody>
      </p:sp>
      <p:sp>
        <p:nvSpPr>
          <p:cNvPr id="16" name="TextBox 15"/>
          <p:cNvSpPr txBox="1"/>
          <p:nvPr/>
        </p:nvSpPr>
        <p:spPr>
          <a:xfrm>
            <a:off x="11109960" y="6510528"/>
            <a:ext cx="914400" cy="274320"/>
          </a:xfrm>
          <a:prstGeom prst="rect">
            <a:avLst/>
          </a:prstGeom>
          <a:noFill/>
        </p:spPr>
        <p:txBody>
          <a:bodyPr wrap="square" anchor="t" lIns="0" rIns="0" tIns="0" bIns="0">
            <a:spAutoFit/>
          </a:bodyPr>
          <a:lstStyle/>
          <a:p>
            <a:pPr algn="r">
              <a:lnSpc>
                <a:spcPct val="100000"/>
              </a:lnSpc>
            </a:pPr>
            <a:r>
              <a:rPr sz="1000" b="0" i="0">
                <a:solidFill>
                  <a:srgbClr val="5F708A"/>
                </a:solidFill>
                <a:latin typeface="Segoe UI"/>
              </a:rPr>
              <a:t>22 / 22</a:t>
            </a:r>
          </a:p>
        </p:txBody>
      </p:sp>
      <p:sp>
        <p:nvSpPr>
          <p:cNvPr id="17" name="TextBox 16"/>
          <p:cNvSpPr txBox="1"/>
          <p:nvPr/>
        </p:nvSpPr>
        <p:spPr>
          <a:xfrm>
            <a:off x="640080" y="6510528"/>
            <a:ext cx="2743200" cy="274320"/>
          </a:xfrm>
          <a:prstGeom prst="rect">
            <a:avLst/>
          </a:prstGeom>
          <a:noFill/>
        </p:spPr>
        <p:txBody>
          <a:bodyPr wrap="square" anchor="t" lIns="0" rIns="0" tIns="0" bIns="0">
            <a:spAutoFit/>
          </a:bodyPr>
          <a:lstStyle/>
          <a:p>
            <a:pPr algn="l">
              <a:lnSpc>
                <a:spcPct val="100000"/>
              </a:lnSpc>
            </a:pPr>
            <a:r>
              <a:rPr sz="1000" b="1" i="0">
                <a:solidFill>
                  <a:srgbClr val="5F708A"/>
                </a:solidFill>
                <a:latin typeface="Segoe UI Semibold"/>
              </a:rPr>
              <a:t>ORBIC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